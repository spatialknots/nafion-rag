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fa2c8808914ba9" /><Relationship Type="http://schemas.openxmlformats.org/officeDocument/2006/relationships/extended-properties" Target="/docProps/app.xml" Id="R0df785f72ec04f14" /><Relationship Type="http://schemas.openxmlformats.org/officeDocument/2006/relationships/officeDocument" Target="/ppt/presentation.xml" Id="R20af16dcaabd42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7a50bdb30849e8"/>
  </p:sldMasterIdLst>
  <p:notesMasterIdLst>
    <p:notesMasterId xmlns:r="http://schemas.openxmlformats.org/officeDocument/2006/relationships" r:id="R79e100ea9edb4e4c"/>
  </p:notesMasterIdLst>
  <p:sldIdLst>
    <p:sldId xmlns:r="http://schemas.openxmlformats.org/officeDocument/2006/relationships" id="256" r:id="R05f7b94d1e11480b"/>
    <p:sldId xmlns:r="http://schemas.openxmlformats.org/officeDocument/2006/relationships" id="257" r:id="Rf34aef28cd08446a"/>
    <p:sldId xmlns:r="http://schemas.openxmlformats.org/officeDocument/2006/relationships" id="258" r:id="Rbcba89e2055d420c"/>
    <p:sldId xmlns:r="http://schemas.openxmlformats.org/officeDocument/2006/relationships" id="259" r:id="R4ed3c43fd1984b41"/>
    <p:sldId xmlns:r="http://schemas.openxmlformats.org/officeDocument/2006/relationships" id="260" r:id="R75cb59e049bf4b38"/>
    <p:sldId xmlns:r="http://schemas.openxmlformats.org/officeDocument/2006/relationships" id="261" r:id="Rd99cb6b135fd4f79"/>
    <p:sldId xmlns:r="http://schemas.openxmlformats.org/officeDocument/2006/relationships" id="262" r:id="R377e924c8fb641b7"/>
    <p:sldId xmlns:r="http://schemas.openxmlformats.org/officeDocument/2006/relationships" id="263" r:id="R5e270b27a5a94904"/>
    <p:sldId xmlns:r="http://schemas.openxmlformats.org/officeDocument/2006/relationships" id="264" r:id="R89edcf19d37a48f4"/>
    <p:sldId xmlns:r="http://schemas.openxmlformats.org/officeDocument/2006/relationships" id="265" r:id="R0f93fa5749b14765"/>
    <p:sldId xmlns:r="http://schemas.openxmlformats.org/officeDocument/2006/relationships" id="266" r:id="Rf05649ddc28e4259"/>
    <p:sldId xmlns:r="http://schemas.openxmlformats.org/officeDocument/2006/relationships" id="267" r:id="R756c7ab8cee44f78"/>
    <p:sldId xmlns:r="http://schemas.openxmlformats.org/officeDocument/2006/relationships" id="268" r:id="R29c9108ecc8545a9"/>
    <p:sldId xmlns:r="http://schemas.openxmlformats.org/officeDocument/2006/relationships" id="269" r:id="R4219d40d7def4c27"/>
    <p:sldId xmlns:r="http://schemas.openxmlformats.org/officeDocument/2006/relationships" id="270" r:id="R94f0abfbf5494698"/>
    <p:sldId xmlns:r="http://schemas.openxmlformats.org/officeDocument/2006/relationships" id="271" r:id="Rae51465ef9aa49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52f76b569f45b7" /><Relationship Type="http://schemas.openxmlformats.org/officeDocument/2006/relationships/slideMaster" Target="/ppt/slideMasters/slideMaster1.xml" Id="Rbd7a50bdb30849e8" /><Relationship Type="http://schemas.openxmlformats.org/officeDocument/2006/relationships/notesMaster" Target="/ppt/notesMasters/notesMaster1.xml" Id="R79e100ea9edb4e4c" /><Relationship Type="http://schemas.openxmlformats.org/officeDocument/2006/relationships/presProps" Target="/ppt/presProps.xml" Id="R106bc114c3904d0a" /><Relationship Type="http://schemas.openxmlformats.org/officeDocument/2006/relationships/tableStyles" Target="/ppt/tableStyles.xml" Id="R1d7f73b64fa4473d" /><Relationship Type="http://schemas.openxmlformats.org/officeDocument/2006/relationships/slide" Target="/ppt/slides/slide1.xml" Id="R05f7b94d1e11480b" /><Relationship Type="http://schemas.openxmlformats.org/officeDocument/2006/relationships/slide" Target="/ppt/slides/slide2.xml" Id="Rf34aef28cd08446a" /><Relationship Type="http://schemas.openxmlformats.org/officeDocument/2006/relationships/slide" Target="/ppt/slides/slide3.xml" Id="Rbcba89e2055d420c" /><Relationship Type="http://schemas.openxmlformats.org/officeDocument/2006/relationships/slide" Target="/ppt/slides/slide4.xml" Id="R4ed3c43fd1984b41" /><Relationship Type="http://schemas.openxmlformats.org/officeDocument/2006/relationships/slide" Target="/ppt/slides/slide5.xml" Id="R75cb59e049bf4b38" /><Relationship Type="http://schemas.openxmlformats.org/officeDocument/2006/relationships/slide" Target="/ppt/slides/slide6.xml" Id="Rd99cb6b135fd4f79" /><Relationship Type="http://schemas.openxmlformats.org/officeDocument/2006/relationships/slide" Target="/ppt/slides/slide7.xml" Id="R377e924c8fb641b7" /><Relationship Type="http://schemas.openxmlformats.org/officeDocument/2006/relationships/slide" Target="/ppt/slides/slide8.xml" Id="R5e270b27a5a94904" /><Relationship Type="http://schemas.openxmlformats.org/officeDocument/2006/relationships/slide" Target="/ppt/slides/slide9.xml" Id="R89edcf19d37a48f4" /><Relationship Type="http://schemas.openxmlformats.org/officeDocument/2006/relationships/slide" Target="/ppt/slides/slide10.xml" Id="R0f93fa5749b14765" /><Relationship Type="http://schemas.openxmlformats.org/officeDocument/2006/relationships/slide" Target="/ppt/slides/slide11.xml" Id="Rf05649ddc28e4259" /><Relationship Type="http://schemas.openxmlformats.org/officeDocument/2006/relationships/slide" Target="/ppt/slides/slide12.xml" Id="R756c7ab8cee44f78" /><Relationship Type="http://schemas.openxmlformats.org/officeDocument/2006/relationships/slide" Target="/ppt/slides/slide13.xml" Id="R29c9108ecc8545a9" /><Relationship Type="http://schemas.openxmlformats.org/officeDocument/2006/relationships/slide" Target="/ppt/slides/slide14.xml" Id="R4219d40d7def4c27" /><Relationship Type="http://schemas.openxmlformats.org/officeDocument/2006/relationships/slide" Target="/ppt/slides/slide15.xml" Id="R94f0abfbf5494698" /><Relationship Type="http://schemas.openxmlformats.org/officeDocument/2006/relationships/slide" Target="/ppt/slides/slide16.xml" Id="Rae51465ef9aa49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c9f02213ca46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80591c6e74d5b" /><Relationship Type="http://schemas.openxmlformats.org/officeDocument/2006/relationships/notesMaster" Target="/ppt/notesMasters/notesMaster1.xml" Id="R5f1fe69102524a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42a1b4e507463f" /><Relationship Type="http://schemas.openxmlformats.org/officeDocument/2006/relationships/notesMaster" Target="/ppt/notesMasters/notesMaster1.xml" Id="R47f77aa68d9d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3fa2a78c054906" /><Relationship Type="http://schemas.openxmlformats.org/officeDocument/2006/relationships/notesMaster" Target="/ppt/notesMasters/notesMaster1.xml" Id="Ra472e624c6e1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2a25fe78bd4e62" /><Relationship Type="http://schemas.openxmlformats.org/officeDocument/2006/relationships/notesMaster" Target="/ppt/notesMasters/notesMaster1.xml" Id="Rb4690d533eee42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4d1fa50ed94b23" /><Relationship Type="http://schemas.openxmlformats.org/officeDocument/2006/relationships/notesMaster" Target="/ppt/notesMasters/notesMaster1.xml" Id="Rccbf6f97f8754a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205fc7f44145f3" /><Relationship Type="http://schemas.openxmlformats.org/officeDocument/2006/relationships/notesMaster" Target="/ppt/notesMasters/notesMaster1.xml" Id="R798477fb1cb14f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04fa8513e64e41" /><Relationship Type="http://schemas.openxmlformats.org/officeDocument/2006/relationships/notesMaster" Target="/ppt/notesMasters/notesMaster1.xml" Id="R81e1869293824a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98c92f28774830" /><Relationship Type="http://schemas.openxmlformats.org/officeDocument/2006/relationships/notesMaster" Target="/ppt/notesMasters/notesMaster1.xml" Id="R0c70b8247e6543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0844c2121f4f4e" /><Relationship Type="http://schemas.openxmlformats.org/officeDocument/2006/relationships/notesMaster" Target="/ppt/notesMasters/notesMaster1.xml" Id="R1974c5cc7aa14c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3a7c7eb2bc40bc" /><Relationship Type="http://schemas.openxmlformats.org/officeDocument/2006/relationships/notesMaster" Target="/ppt/notesMasters/notesMaster1.xml" Id="Rdc81d7e09f6347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b02c5daa3a42f1" /><Relationship Type="http://schemas.openxmlformats.org/officeDocument/2006/relationships/notesMaster" Target="/ppt/notesMasters/notesMaster1.xml" Id="Rc334f5dfe01c49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0cafbd9fcf4be7" /><Relationship Type="http://schemas.openxmlformats.org/officeDocument/2006/relationships/notesMaster" Target="/ppt/notesMasters/notesMaster1.xml" Id="R94ecdec23bde40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df66bd8bd84147" /><Relationship Type="http://schemas.openxmlformats.org/officeDocument/2006/relationships/notesMaster" Target="/ppt/notesMasters/notesMaster1.xml" Id="R08f6de2162ab40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d029dc76f14dd6" /><Relationship Type="http://schemas.openxmlformats.org/officeDocument/2006/relationships/notesMaster" Target="/ppt/notesMasters/notesMaster1.xml" Id="Rc5b3feda82604c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851783e7084c68" /><Relationship Type="http://schemas.openxmlformats.org/officeDocument/2006/relationships/notesMaster" Target="/ppt/notesMasters/notesMaster1.xml" Id="R245b87b0162347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259ff02daf412c" /><Relationship Type="http://schemas.openxmlformats.org/officeDocument/2006/relationships/notesMaster" Target="/ppt/notesMasters/notesMaster1.xml" Id="Rf559531ac618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D:/Nafion-RAG/handoffs/ARIADNE_OPTIMIZED_CONCEPT_v1_1_2026-10-06/01_PROJECT_CONCEPT.md; оригинальный логотип D:/Nafion-RAG/app/static/brand/ariadne-logo-horizontal.png. Концепция для обсуждения с ИХТТ и подготовки заявки; не поданная заявка и не готовый серийный продукт.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D:/Nafion-RAG/handoffs/ARIADNE_OPTIMIZED_CONCEPT_v1_1_2026-10-06/01_PROJECT_CONCEPT.md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D:/Nafion-RAG/handoffs/ARIADNE_OPTIMIZED_CONCEPT_v1_1_2026-10-06/04_ARCHITECTURE_AND_IP.md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D:/Nafion-RAG/handoffs/ARIADNE_OPTIMIZED_CONCEPT_v1_1_2026-10-06/09_CURRENT_STATE_AND_EVIDENCE.md</a:t>
            </a:r>
          </a:p>
          <a:p xmlns:a="http://schemas.openxmlformats.org/drawingml/2006/main">
            <a:r>
              <a:t>Сохранённый аудит 06.10.2026: pytest 595 passed, 1 warning; корпус 33 статьи, 493 страницы, 619 chunks. Retrieval 46/46 на development/regression, не независимый научный holdout. Проверки для презентации не повторялись.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D:/Nafion-RAG/handoffs/ARIADNE_OPTIMIZED_CONCEPT_v1_1_2026-10-06/02_GRANT_CORE_AND_KPI.md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D:/Nafion-RAG/handoffs/ARIADNE_OPTIMIZED_CONCEPT_v1_1_2026-10-06/01_PROJECT_CONCEPT.md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D:/Nafion-RAG/handoffs/ARIADNE_OPTIMIZED_CONCEPT_v1_1_2026-10-06/04_ARCHITECTURE_AND_IP.md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D:/Nafion-RAG/handoffs/ARIADNE_OPTIMIZED_CONCEPT_v1_1_2026-10-06/02_GRANT_CORE_AND_KPI.md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D:/Nafion-RAG/handoffs/ARIADNE_OPTIMIZED_CONCEPT_v1_1_2026-10-06/02_GRANT_CORE_AND_KPI.md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D:/Nafion-RAG/handoffs/ARIADNE_OPTIMIZED_CONCEPT_v1_1_2026-10-06/03_PRODUCT_AND_COMMERCIALIZATION.md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D:/Nafion-RAG/handoffs/ARIADNE_OPTIMIZED_CONCEPT_v1_1_2026-10-06/05_HARDWARE_AND_BUDGET.md</a:t>
            </a:r>
          </a:p>
          <a:p xmlns:a="http://schemas.openxmlformats.org/drawingml/2006/main">
            <a:r>
              <a:t>Исторический кандидат: две AFOX RTX3090 по24ГБ, EPYC7402P/H12SSL-I,128ГБ ECC,2ТБ TLC. CPU/RAM б/у с гарантией. Не подтверждённое предложение. ИБП, внешнее backup, монитор и подписки вне системного блока.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D:/Nafion-RAG/handoffs/ARIADNE_OPTIMIZED_CONCEPT_v1_1_2026-10-06/06_ROADMAP_AND_TEAM.md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D:/Nafion-RAG/handoffs/ARIADNE_OPTIMIZED_CONCEPT_v1_1_2026-10-06/06_ROADMAP_AND_TEAM.md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D:/Nafion-RAG/handoffs/ARIADNE_OPTIMIZED_CONCEPT_v1_1_2026-10-06/05_HARDWARE_AND_BUDGET.md. Девять исходных статей: научный труд 2200, станция 1000, инженер 600, сервисы 300, независимая проверка 150, ИБП/backup/эксплуатация 150, аналоги/правовое сопровождение 100, пилот/документация 100, организация 400 тыс. рублей. Всего 5000. Две пары строк сгруппированы для показа. Сценарий не согласован; применимые начисления и закупка требуют проверки организации. Аппаратный резерв уже внутри станции; свободного общего резерва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D:/Nafion-RAG/handoffs/ARIADNE_OPTIMIZED_CONCEPT_v1_1_2026-10-06/08_DECISIONS_AND_RISKS.md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D:/Nafion-RAG/handoffs/ARIADNE_OPTIMIZED_CONCEPT_v1_1_2026-10-06/07_IHTT_ONE_PAGE_MEMO.md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2b3912ef14a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22329ee8cc4bd6" /><Relationship Type="http://schemas.openxmlformats.org/officeDocument/2006/relationships/slideLayout" Target="/ppt/slideLayouts/slideLayout1.xml" Id="R7f6a0286791d4c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6a0286791d4c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fae0fd99a41c0" /><Relationship Type="http://schemas.openxmlformats.org/officeDocument/2006/relationships/image" Target="/ppt/media/image.png" Id="R15365960675e4e5a" /><Relationship Type="http://schemas.openxmlformats.org/officeDocument/2006/relationships/notesSlide" Target="/ppt/notesSlides/notesSlide1.xml" Id="R6ad093aa7a24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55328a8bd4bc8" /><Relationship Type="http://schemas.openxmlformats.org/officeDocument/2006/relationships/notesSlide" Target="/ppt/notesSlides/notesSlide2.xml" Id="Ra2a5a324abfd45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112c6f4874f79" /><Relationship Type="http://schemas.openxmlformats.org/officeDocument/2006/relationships/notesSlide" Target="/ppt/notesSlides/notesSlide3.xml" Id="Rea94aadaf9b54b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9b2e20a624017" /><Relationship Type="http://schemas.openxmlformats.org/officeDocument/2006/relationships/notesSlide" Target="/ppt/notesSlides/notesSlide4.xml" Id="Rd78c062e27bd43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a483e34ad4417" /><Relationship Type="http://schemas.openxmlformats.org/officeDocument/2006/relationships/notesSlide" Target="/ppt/notesSlides/notesSlide5.xml" Id="Re768b21381c047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87dbd97f248b5" /><Relationship Type="http://schemas.openxmlformats.org/officeDocument/2006/relationships/notesSlide" Target="/ppt/notesSlides/notesSlide6.xml" Id="Ra5b72e53f94d42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d355bbf15438b" /><Relationship Type="http://schemas.openxmlformats.org/officeDocument/2006/relationships/notesSlide" Target="/ppt/notesSlides/notesSlide7.xml" Id="R3037ea5f219648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cc64df64545c5" /><Relationship Type="http://schemas.openxmlformats.org/officeDocument/2006/relationships/notesSlide" Target="/ppt/notesSlides/notesSlide8.xml" Id="Rbc876ea51c0043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d31231cfa4aab" /><Relationship Type="http://schemas.openxmlformats.org/officeDocument/2006/relationships/chart" Target="/ppt/slides/charts/chart1.xml" Id="R59b462d1ba2b465c" /><Relationship Type="http://schemas.openxmlformats.org/officeDocument/2006/relationships/notesSlide" Target="/ppt/notesSlides/notesSlide9.xml" Id="R0725bdbe598143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9cdf75ff74ede" /><Relationship Type="http://schemas.openxmlformats.org/officeDocument/2006/relationships/notesSlide" Target="/ppt/notesSlides/notesSlide10.xml" Id="R0bb245c8f63742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651f2335d4f4d" /><Relationship Type="http://schemas.openxmlformats.org/officeDocument/2006/relationships/notesSlide" Target="/ppt/notesSlides/notesSlide11.xml" Id="Rc7ec30994569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97d1e4ae74eef" /><Relationship Type="http://schemas.openxmlformats.org/officeDocument/2006/relationships/notesSlide" Target="/ppt/notesSlides/notesSlide12.xml" Id="Rcf8d0ad90faa46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36b5a9d2745ab" /><Relationship Type="http://schemas.openxmlformats.org/officeDocument/2006/relationships/notesSlide" Target="/ppt/notesSlides/notesSlide13.xml" Id="Redb241072b144f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ec7d42e7a450b" /><Relationship Type="http://schemas.openxmlformats.org/officeDocument/2006/relationships/notesSlide" Target="/ppt/notesSlides/notesSlide14.xml" Id="Rdc3d5305497442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2f02728104df6" /><Relationship Type="http://schemas.openxmlformats.org/officeDocument/2006/relationships/notesSlide" Target="/ppt/notesSlides/notesSlide15.xml" Id="R7550d1ce2f4e48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6fffc2b494aa4" /><Relationship Type="http://schemas.openxmlformats.org/officeDocument/2006/relationships/notesSlide" Target="/ppt/notesSlides/notesSlide16.xml" Id="Rf1ae738159cc440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Публикации</c:v>
          </c:tx>
          <c:spPr>
            <a:solidFill xmlns:a="http://schemas.openxmlformats.org/drawingml/2006/main">
              <a:srgbClr val="007F87"/>
            </a:solidFill>
          </c:spPr>
          <c:cat>
            <c:strRef>
              <c:f>'Chart Data'!$A$2:$A$4</c:f>
              <c:strCache>
                <c:ptCount val="3"/>
                <c:pt idx="0">
                  <c:v>Разработка</c:v>
                </c:pt>
                <c:pt idx="1">
                  <c:v>Настройка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A2E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65960675e4e5a"/>
          <a:stretch xmlns:a="http://schemas.openxmlformats.org/drawingml/2006/main"/>
        </p:blipFill>
        <p:spPr>
          <a:xfrm xmlns:a="http://schemas.openxmlformats.org/drawingml/2006/main">
            <a:off x="609600" y="463189"/>
            <a:ext cx="4000500" cy="1740623"/>
          </a:xfrm>
          <a:prstGeom xmlns:a="http://schemas.openxmlformats.org/drawingml/2006/main" prst="rect">
            <a:avLst/>
          </a:prstGeom>
        </p:spPr>
      </p:pic>
      <p:sp>
        <p:nvSpPr>
          <p:cNvPr id="2" name="Проверяемые экспериментальные&#10;данные">
            <a:extLst xmlns:a="http://schemas.openxmlformats.org/drawingml/2006/main">
              <a:ext uri="{FF2B5EF4-FFF2-40B4-BE49-F238E27FC236}">
                <a16:creationId xmlns:a16="http://schemas.microsoft.com/office/drawing/2014/main" id="{8C36BF9D-D7DB-47F8-8B5C-7946541C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Проверяемые экспериментальные</a:t>
            </a:r>
          </a:p>
          <a:p xmlns:a="http://schemas.openxmlformats.org/drawingml/2006/main">
            <a:pPr>
              <a:defRPr sz="39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данные из научной литературы</a:t>
            </a:r>
          </a:p>
        </p:txBody>
      </p:sp>
      <p:sp>
        <p:nvSpPr>
          <p:cNvPr id="3" name="Локальная система для химика и иссле">
            <a:extLst xmlns:a="http://schemas.openxmlformats.org/drawingml/2006/main">
              <a:ext uri="{FF2B5EF4-FFF2-40B4-BE49-F238E27FC236}">
                <a16:creationId xmlns:a16="http://schemas.microsoft.com/office/drawing/2014/main" id="{C2DFEBF4-2E02-4BFE-A041-64C20577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Локальная система для химика и исследовательской группы</a:t>
            </a:r>
          </a:p>
        </p:txBody>
      </p:sp>
      <p:sp>
        <p:nvSpPr>
          <p:cNvPr id="4" name="Концепция v1.1 · 6 октября 2026 года">
            <a:extLst xmlns:a="http://schemas.openxmlformats.org/drawingml/2006/main">
              <a:ext uri="{FF2B5EF4-FFF2-40B4-BE49-F238E27FC236}">
                <a16:creationId xmlns:a16="http://schemas.microsoft.com/office/drawing/2014/main" id="{98D534B0-A638-41DB-ADF1-C661ED39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Концепция v1.1 · 6 октября 2026 года</a:t>
            </a:r>
          </a:p>
        </p:txBody>
      </p:sp>
    </p:spTree>
    <p:extLst>
      <p:ext uri="{BB962C8B-B14F-4D97-AF65-F5344CB8AC3E}">
        <p14:creationId xmlns:p14="http://schemas.microsoft.com/office/powerpoint/2010/main" val="1097624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Ошибки при сравнении материалов">
            <a:extLst xmlns:a="http://schemas.openxmlformats.org/drawingml/2006/main">
              <a:ext uri="{FF2B5EF4-FFF2-40B4-BE49-F238E27FC236}">
                <a16:creationId xmlns:a16="http://schemas.microsoft.com/office/drawing/2014/main" id="{A3E9A4D5-5EE8-4029-BC4B-1920519E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Ошибки при сравнении материалов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950A028A-E078-40ED-ABB4-71205920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7DF27991-E1E3-4B0D-8793-FB971DC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авильно распознанное число может&#10;о">
            <a:extLst xmlns:a="http://schemas.openxmlformats.org/drawingml/2006/main">
              <a:ext uri="{FF2B5EF4-FFF2-40B4-BE49-F238E27FC236}">
                <a16:creationId xmlns:a16="http://schemas.microsoft.com/office/drawing/2014/main" id="{08E8D353-DDB4-47C8-82E8-48C5D583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Правильно распознанное число может</a:t>
            </a:r>
          </a:p>
          <a:p xmlns:a="http://schemas.openxmlformats.org/drawingml/2006/main">
            <a:pPr>
              <a:defRPr sz="285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относиться к другому эксперименту</a:t>
            </a:r>
          </a:p>
        </p:txBody>
      </p:sp>
      <p:sp>
        <p:nvSpPr>
          <p:cNvPr id="5" name="Образец">
            <a:extLst xmlns:a="http://schemas.openxmlformats.org/drawingml/2006/main">
              <a:ext uri="{FF2B5EF4-FFF2-40B4-BE49-F238E27FC236}">
                <a16:creationId xmlns:a16="http://schemas.microsoft.com/office/drawing/2014/main" id="{21C13D52-90E4-46C9-BC2D-1A18B9F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Образец</a:t>
            </a:r>
          </a:p>
        </p:txBody>
      </p:sp>
      <p:sp>
        <p:nvSpPr>
          <p:cNvPr id="6" name="Значение связано с другой мембраной ">
            <a:extLst xmlns:a="http://schemas.openxmlformats.org/drawingml/2006/main">
              <a:ext uri="{FF2B5EF4-FFF2-40B4-BE49-F238E27FC236}">
                <a16:creationId xmlns:a16="http://schemas.microsoft.com/office/drawing/2014/main" id="{FA65D8E4-4A56-4B03-9BCA-C1314D81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Значение связано с другой мембраной или составом.</a:t>
            </a:r>
          </a:p>
        </p:txBody>
      </p:sp>
      <p:sp>
        <p:nvSpPr>
          <p:cNvPr id="7" name="Условия">
            <a:extLst xmlns:a="http://schemas.openxmlformats.org/drawingml/2006/main">
              <a:ext uri="{FF2B5EF4-FFF2-40B4-BE49-F238E27FC236}">
                <a16:creationId xmlns:a16="http://schemas.microsoft.com/office/drawing/2014/main" id="{E8B1CAF7-2519-441B-9BF6-B187952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Условия</a:t>
            </a:r>
          </a:p>
        </p:txBody>
      </p:sp>
      <p:sp>
        <p:nvSpPr>
          <p:cNvPr id="8" name="Температура, влажность или среда пер">
            <a:extLst xmlns:a="http://schemas.openxmlformats.org/drawingml/2006/main">
              <a:ext uri="{FF2B5EF4-FFF2-40B4-BE49-F238E27FC236}">
                <a16:creationId xmlns:a16="http://schemas.microsoft.com/office/drawing/2014/main" id="{6E08401C-C5C1-404A-8A9F-C2865757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57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Температура, влажность или среда перенесены из соседнего случая.</a:t>
            </a:r>
          </a:p>
        </p:txBody>
      </p:sp>
      <p:sp>
        <p:nvSpPr>
          <p:cNvPr id="9" name="Происхождение">
            <a:extLst xmlns:a="http://schemas.openxmlformats.org/drawingml/2006/main">
              <a:ext uri="{FF2B5EF4-FFF2-40B4-BE49-F238E27FC236}">
                <a16:creationId xmlns:a16="http://schemas.microsoft.com/office/drawing/2014/main" id="{0397B03A-9DEA-4AAE-9593-C936ED1F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Происхождение</a:t>
            </a:r>
          </a:p>
        </p:txBody>
      </p:sp>
      <p:sp>
        <p:nvSpPr>
          <p:cNvPr id="10" name="Расчётное значение принято за экспер">
            <a:extLst xmlns:a="http://schemas.openxmlformats.org/drawingml/2006/main">
              <a:ext uri="{FF2B5EF4-FFF2-40B4-BE49-F238E27FC236}">
                <a16:creationId xmlns:a16="http://schemas.microsoft.com/office/drawing/2014/main" id="{6AA6824C-123A-4272-94F8-8A0C33DF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9107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Расчётное значение принято за экспериментальное.</a:t>
            </a:r>
          </a:p>
        </p:txBody>
      </p:sp>
      <p:sp>
        <p:nvSpPr>
          <p:cNvPr id="11" name="Задача ARIADNE — сохранить связи и п">
            <a:extLst xmlns:a="http://schemas.openxmlformats.org/drawingml/2006/main">
              <a:ext uri="{FF2B5EF4-FFF2-40B4-BE49-F238E27FC236}">
                <a16:creationId xmlns:a16="http://schemas.microsoft.com/office/drawing/2014/main" id="{ABFA70C7-788A-4D14-8911-A9F0C509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Задача ARIADNE — сохранить связи и показать подтверждающий источник.</a:t>
            </a:r>
          </a:p>
        </p:txBody>
      </p:sp>
    </p:spTree>
    <p:extLst>
      <p:ext uri="{BB962C8B-B14F-4D97-AF65-F5344CB8AC3E}">
        <p14:creationId xmlns:p14="http://schemas.microsoft.com/office/powerpoint/2010/main" val="1596704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cientific Record">
            <a:extLst xmlns:a="http://schemas.openxmlformats.org/drawingml/2006/main">
              <a:ext uri="{FF2B5EF4-FFF2-40B4-BE49-F238E27FC236}">
                <a16:creationId xmlns:a16="http://schemas.microsoft.com/office/drawing/2014/main" id="{AD327828-C8F8-4D88-8B96-012C2CD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Scientific Record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F72808B5-E424-4431-A896-69CD77AA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B30593D5-7A2E-4DF0-975E-CED11B81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Одна запись — одно свойство образца&#10;">
            <a:extLst xmlns:a="http://schemas.openxmlformats.org/drawingml/2006/main">
              <a:ext uri="{FF2B5EF4-FFF2-40B4-BE49-F238E27FC236}">
                <a16:creationId xmlns:a16="http://schemas.microsoft.com/office/drawing/2014/main" id="{535C956E-AD4A-49C6-8FB6-FB546AA0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Одна запись — одно свойство образца</a:t>
            </a:r>
          </a:p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при определённых условиях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сохраняем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проверяем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Образец, свойство, величина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Явная связь в тексте или строке таблицы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Единица, условия, происхождение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Источник каждого извлечённого поля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Исходное значение и преобразование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Правило нормализации и история изменений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Решение химика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Подтверждение, исправление или отклонение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6" name="Целевой формат. Полная связанная зап">
            <a:extLst xmlns:a="http://schemas.openxmlformats.org/drawingml/2006/main">
              <a:ext uri="{FF2B5EF4-FFF2-40B4-BE49-F238E27FC236}">
                <a16:creationId xmlns:a16="http://schemas.microsoft.com/office/drawing/2014/main" id="{199CF110-D107-4090-AC82-8D7A8B8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Целевой формат. Полная связанная запись ещё не реализована и не принята научно.</a:t>
            </a:r>
          </a:p>
        </p:txBody>
      </p:sp>
    </p:spTree>
    <p:extLst>
      <p:ext uri="{BB962C8B-B14F-4D97-AF65-F5344CB8AC3E}">
        <p14:creationId xmlns:p14="http://schemas.microsoft.com/office/powerpoint/2010/main" val="2139820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Текущий задел ARIADNE">
            <a:extLst xmlns:a="http://schemas.openxmlformats.org/drawingml/2006/main">
              <a:ext uri="{FF2B5EF4-FFF2-40B4-BE49-F238E27FC236}">
                <a16:creationId xmlns:a16="http://schemas.microsoft.com/office/drawing/2014/main" id="{964644D6-887A-4E23-B0BB-4004B93B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Текущий задел ARIADNE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7779D066-05E4-449E-9932-E951B0A2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90684569-5EAC-4542-9217-8F1CD37E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33">
            <a:extLst xmlns:a="http://schemas.openxmlformats.org/drawingml/2006/main">
              <a:ext uri="{FF2B5EF4-FFF2-40B4-BE49-F238E27FC236}">
                <a16:creationId xmlns:a16="http://schemas.microsoft.com/office/drawing/2014/main" id="{729FB0B7-96FD-42D7-965B-689DA6DB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95B4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95B47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статьи в корпусе">
            <a:extLst xmlns:a="http://schemas.openxmlformats.org/drawingml/2006/main">
              <a:ext uri="{FF2B5EF4-FFF2-40B4-BE49-F238E27FC236}">
                <a16:creationId xmlns:a16="http://schemas.microsoft.com/office/drawing/2014/main" id="{263CF95A-D93F-4F68-A21B-14A3F0F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статьи в корпусе</a:t>
            </a:r>
          </a:p>
        </p:txBody>
      </p:sp>
      <p:sp>
        <p:nvSpPr>
          <p:cNvPr id="6" name="595">
            <a:extLst xmlns:a="http://schemas.openxmlformats.org/drawingml/2006/main">
              <a:ext uri="{FF2B5EF4-FFF2-40B4-BE49-F238E27FC236}">
                <a16:creationId xmlns:a16="http://schemas.microsoft.com/office/drawing/2014/main" id="{B4ABBD15-F607-4730-992B-A3A0EB50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859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95B4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95B47"/>
                </a:solidFill>
                <a:latin typeface="Arial"/>
                <a:ea typeface="Arial"/>
                <a:cs typeface="Arial"/>
              </a:rPr>
              <a:t>595</a:t>
            </a:r>
          </a:p>
        </p:txBody>
      </p:sp>
      <p:sp>
        <p:nvSpPr>
          <p:cNvPr id="7" name="программных тестов прошли">
            <a:extLst xmlns:a="http://schemas.openxmlformats.org/drawingml/2006/main">
              <a:ext uri="{FF2B5EF4-FFF2-40B4-BE49-F238E27FC236}">
                <a16:creationId xmlns:a16="http://schemas.microsoft.com/office/drawing/2014/main" id="{F3190821-EF9C-46E5-B04D-8B39FEF1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813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программных тестов прошли</a:t>
            </a:r>
          </a:p>
        </p:txBody>
      </p:sp>
      <p:sp>
        <p:nvSpPr>
          <p:cNvPr id="8" name="46/46">
            <a:extLst xmlns:a="http://schemas.openxmlformats.org/drawingml/2006/main">
              <a:ext uri="{FF2B5EF4-FFF2-40B4-BE49-F238E27FC236}">
                <a16:creationId xmlns:a16="http://schemas.microsoft.com/office/drawing/2014/main" id="{51C27AD3-CA39-4A8D-B829-502B83B9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859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95B4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95B47"/>
                </a:solidFill>
                <a:latin typeface="Arial"/>
                <a:ea typeface="Arial"/>
                <a:cs typeface="Arial"/>
              </a:rPr>
              <a:t>46/46</a:t>
            </a:r>
          </a:p>
        </p:txBody>
      </p:sp>
      <p:sp>
        <p:nvSpPr>
          <p:cNvPr id="9" name="retrieval-проверок прошли">
            <a:extLst xmlns:a="http://schemas.openxmlformats.org/drawingml/2006/main">
              <a:ext uri="{FF2B5EF4-FFF2-40B4-BE49-F238E27FC236}">
                <a16:creationId xmlns:a16="http://schemas.microsoft.com/office/drawing/2014/main" id="{C0DA1ADD-6968-4306-9E58-BA857133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813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retrieval-проверок прошли</a:t>
            </a:r>
          </a:p>
        </p:txBody>
      </p:sp>
      <p:sp>
        <p:nvSpPr>
          <p:cNvPr id="10" name="Есть ingestion/OCR, PostgreSQL, hybr">
            <a:extLst xmlns:a="http://schemas.openxmlformats.org/drawingml/2006/main">
              <a:ext uri="{FF2B5EF4-FFF2-40B4-BE49-F238E27FC236}">
                <a16:creationId xmlns:a16="http://schemas.microsoft.com/office/drawing/2014/main" id="{5CD13F8C-71FA-47F1-AC3F-104E513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Есть ingestion/OCR, PostgreSQL, hybrid search,</a:t>
            </a:r>
          </a:p>
          <a:p xmlns:a="http://schemas.openxmlformats.org/drawingml/2006/main">
            <a:pPr>
              <a:defRPr sz="24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provenance, численные кандидаты и review-задел.</a:t>
            </a:r>
          </a:p>
        </p:txBody>
      </p:sp>
      <p:sp>
        <p:nvSpPr>
          <p:cNvPr id="11" name="Исторические инженерные результаты. ">
            <a:extLst xmlns:a="http://schemas.openxmlformats.org/drawingml/2006/main">
              <a:ext uri="{FF2B5EF4-FFF2-40B4-BE49-F238E27FC236}">
                <a16:creationId xmlns:a16="http://schemas.microsoft.com/office/drawing/2014/main" id="{4F35FF39-74C1-49B4-9527-3B921FCA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Исторические инженерные результаты. Научное качество полной записи не доказано.</a:t>
            </a:r>
          </a:p>
        </p:txBody>
      </p:sp>
    </p:spTree>
    <p:extLst>
      <p:ext uri="{BB962C8B-B14F-4D97-AF65-F5344CB8AC3E}">
        <p14:creationId xmlns:p14="http://schemas.microsoft.com/office/powerpoint/2010/main" val="1048148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Научная гипотеза и эксперимент">
            <a:extLst xmlns:a="http://schemas.openxmlformats.org/drawingml/2006/main">
              <a:ext uri="{FF2B5EF4-FFF2-40B4-BE49-F238E27FC236}">
                <a16:creationId xmlns:a16="http://schemas.microsoft.com/office/drawing/2014/main" id="{63D71A33-08DA-4BCB-BE74-07836BD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Научная гипотеза и эксперимент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53DD6941-BC20-4C2E-BB21-D63A621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50C0B35-59D8-4781-A22C-AE84F054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Проверки связей должны уменьшить оши">
            <a:extLst xmlns:a="http://schemas.openxmlformats.org/drawingml/2006/main">
              <a:ext uri="{FF2B5EF4-FFF2-40B4-BE49-F238E27FC236}">
                <a16:creationId xmlns:a16="http://schemas.microsoft.com/office/drawing/2014/main" id="{9B3DB9C4-F47A-4B4C-A512-901975E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Проверки связей должны уменьшить ошибки</a:t>
            </a:r>
          </a:p>
          <a:p xmlns:a="http://schemas.openxmlformats.org/drawingml/2006/main">
            <a:pPr>
              <a:defRPr sz="26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и трудоёмкость работы химика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781300"/>
          <a:ext xmlns:a="http://schemas.openxmlformats.org/drawingml/2006/main" cx="109728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448300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Режим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B: фиксированная локальная LLM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Базовое извлечение полной записи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C: та же LLM + проверки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Измерение вклада checks и отказов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D: C + review химиком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итоговой таблицы и полное время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Гипотеза не проверена. Порог допуска">
            <a:extLst xmlns:a="http://schemas.openxmlformats.org/drawingml/2006/main">
              <a:ext uri="{FF2B5EF4-FFF2-40B4-BE49-F238E27FC236}">
                <a16:creationId xmlns:a16="http://schemas.microsoft.com/office/drawing/2014/main" id="{E50B933E-7F0D-45EC-AAFE-C098401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Гипотеза не проверена. Порог допуска выбирается на validation и замораживается.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760245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Границы проекта на первый год">
            <a:extLst xmlns:a="http://schemas.openxmlformats.org/drawingml/2006/main">
              <a:ext uri="{FF2B5EF4-FFF2-40B4-BE49-F238E27FC236}">
                <a16:creationId xmlns:a16="http://schemas.microsoft.com/office/drawing/2014/main" id="{4DB84A20-93B6-4554-A5E1-5FA2975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Границы проекта на первый год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386AB757-1569-4AEE-91D8-5705FC9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C7A68919-ADAA-47FA-910A-4151B579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Уровень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Содержание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Обязательное ядро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Один сценарий проводимости; текст и простые таблицы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Минимальный продукт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Review, экспорт, локальная установка и восстановление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После приёмки ядра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Второй домен, графики, дополнительные модели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Следующий этап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Серийный ARIADNE Box, роли и интеграции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PFSA/Nafion — первый домен проверки.">
            <a:extLst xmlns:a="http://schemas.openxmlformats.org/drawingml/2006/main">
              <a:ext uri="{FF2B5EF4-FFF2-40B4-BE49-F238E27FC236}">
                <a16:creationId xmlns:a16="http://schemas.microsoft.com/office/drawing/2014/main" id="{DC66F976-7346-47E8-8806-C1CDD2CF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PFSA/Nafion — первый домен проверки. Протонный или литий-ионный сценарий ещё выбирается.</a:t>
            </a:r>
          </a:p>
        </p:txBody>
      </p:sp>
    </p:spTree>
    <p:extLst>
      <p:ext uri="{BB962C8B-B14F-4D97-AF65-F5344CB8AC3E}">
        <p14:creationId xmlns:p14="http://schemas.microsoft.com/office/powerpoint/2010/main" val="3715453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граниченные проверки и решение эксп">
            <a:extLst xmlns:a="http://schemas.openxmlformats.org/drawingml/2006/main">
              <a:ext uri="{FF2B5EF4-FFF2-40B4-BE49-F238E27FC236}">
                <a16:creationId xmlns:a16="http://schemas.microsoft.com/office/drawing/2014/main" id="{018DA325-5E3F-4F30-B90E-B1EAC9BD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Ограниченные проверки и решение эксперта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A847B829-A4F8-481F-97E2-CB144A10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FECEB00B-EFD6-476D-AAC4-8BC0BCDD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Автоматические проверки">
            <a:extLst xmlns:a="http://schemas.openxmlformats.org/drawingml/2006/main">
              <a:ext uri="{FF2B5EF4-FFF2-40B4-BE49-F238E27FC236}">
                <a16:creationId xmlns:a16="http://schemas.microsoft.com/office/drawing/2014/main" id="{AABF7699-1AC5-4BA2-8075-946D948F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Автоматические проверки</a:t>
            </a:r>
          </a:p>
        </p:txBody>
      </p:sp>
      <p:sp>
        <p:nvSpPr>
          <p:cNvPr id="5" name="Образец ↔ значение&#10;Условия ↔ конкрет">
            <a:extLst xmlns:a="http://schemas.openxmlformats.org/drawingml/2006/main">
              <a:ext uri="{FF2B5EF4-FFF2-40B4-BE49-F238E27FC236}">
                <a16:creationId xmlns:a16="http://schemas.microsoft.com/office/drawing/2014/main" id="{911362C3-4624-4788-AED7-31B1CF34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0006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Образец ↔ значение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Условия ↔ конкретная запись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Единица и оператор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Происхождение результата</a:t>
            </a:r>
          </a:p>
          <a:p xmlns:a="http://schemas.openxmlformats.org/drawingml/2006/main">
            <a:pPr>
              <a:defRPr sz="225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Доказательства полей</a:t>
            </a:r>
          </a:p>
        </p:txBody>
      </p:sp>
      <p:sp>
        <p:nvSpPr>
          <p:cNvPr id="6" name="Правило допуска">
            <a:extLst xmlns:a="http://schemas.openxmlformats.org/drawingml/2006/main">
              <a:ext uri="{FF2B5EF4-FFF2-40B4-BE49-F238E27FC236}">
                <a16:creationId xmlns:a16="http://schemas.microsoft.com/office/drawing/2014/main" id="{76C46F46-FC6B-45AF-8E0B-C1491A6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2877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Правило допуска</a:t>
            </a:r>
          </a:p>
        </p:txBody>
      </p:sp>
      <p:sp>
        <p:nvSpPr>
          <p:cNvPr id="7" name="Недостаточно evidence&#10;или связь неод">
            <a:extLst xmlns:a="http://schemas.openxmlformats.org/drawingml/2006/main">
              <a:ext uri="{FF2B5EF4-FFF2-40B4-BE49-F238E27FC236}">
                <a16:creationId xmlns:a16="http://schemas.microsoft.com/office/drawing/2014/main" id="{D01B2C41-9CF1-4BD0-8B63-B4E4B334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Недостаточно evidence</a:t>
            </a:r>
          </a:p>
          <a:p xmlns:a="http://schemas.openxmlformats.org/drawingml/2006/main">
            <a:pPr>
              <a:defRPr sz="23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или связь неоднозначна:</a:t>
            </a:r>
          </a:p>
          <a:p xmlns:a="http://schemas.openxmlformats.org/drawingml/2006/main">
            <a:pPr>
              <a:defRPr sz="232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нужна проверка химиком.</a:t>
            </a:r>
          </a:p>
        </p:txBody>
      </p:sp>
      <p:sp>
        <p:nvSpPr>
          <p:cNvPr id="8" name="Прохождение checks&#10;не равно подтверж">
            <a:extLst xmlns:a="http://schemas.openxmlformats.org/drawingml/2006/main">
              <a:ext uri="{FF2B5EF4-FFF2-40B4-BE49-F238E27FC236}">
                <a16:creationId xmlns:a16="http://schemas.microsoft.com/office/drawing/2014/main" id="{322D0630-4FA8-4D27-8178-B88DCBC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9575"/>
            <a:ext cx="514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Прохождение checks</a:t>
            </a:r>
          </a:p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не равно подтверждению</a:t>
            </a:r>
          </a:p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экспертом.</a:t>
            </a:r>
          </a:p>
        </p:txBody>
      </p:sp>
      <p:sp>
        <p:nvSpPr>
          <p:cNvPr id="9" name="Универсальная проверка научной истин">
            <a:extLst xmlns:a="http://schemas.openxmlformats.org/drawingml/2006/main">
              <a:ext uri="{FF2B5EF4-FFF2-40B4-BE49-F238E27FC236}">
                <a16:creationId xmlns:a16="http://schemas.microsoft.com/office/drawing/2014/main" id="{4F47FCBE-F2DA-46AF-8722-543576C9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Универсальная проверка научной истинности в проекте не обещается.</a:t>
            </a:r>
          </a:p>
        </p:txBody>
      </p:sp>
    </p:spTree>
    <p:extLst>
      <p:ext uri="{BB962C8B-B14F-4D97-AF65-F5344CB8AC3E}">
        <p14:creationId xmlns:p14="http://schemas.microsoft.com/office/powerpoint/2010/main" val="91273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абочие цели качества">
            <a:extLst xmlns:a="http://schemas.openxmlformats.org/drawingml/2006/main">
              <a:ext uri="{FF2B5EF4-FFF2-40B4-BE49-F238E27FC236}">
                <a16:creationId xmlns:a16="http://schemas.microsoft.com/office/drawing/2014/main" id="{0D54F6D5-0FD9-49F9-84C8-E4CCCFCD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Рабочие цели качества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FEA80D43-7FB3-4518-BE75-F13196E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E9B4D99E-BB6F-4BCE-9A58-88D9542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1762125"/>
                <a:gridCol w="482917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Цель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измеряем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Precision полной записи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≥90%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Допущенные записи до правок химика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Recall полной записи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≥60%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Все подходящие gold-записи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Provenance допущенных полей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Проверяемое evidence и связи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Корректный отказ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≥85%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Отрицательные и неоднозначные случаи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Экономия времени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≥30%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Полное время проверенной таблицы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Предложенные цели, не достигнутые по">
            <a:extLst xmlns:a="http://schemas.openxmlformats.org/drawingml/2006/main">
              <a:ext uri="{FF2B5EF4-FFF2-40B4-BE49-F238E27FC236}">
                <a16:creationId xmlns:a16="http://schemas.microsoft.com/office/drawing/2014/main" id="{A4560126-9831-43CA-9FB5-18950848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Предложенные цели, не достигнутые показатели. Считать также coverage и ложные отказы.</a:t>
            </a:r>
          </a:p>
        </p:txBody>
      </p:sp>
    </p:spTree>
    <p:extLst>
      <p:ext uri="{BB962C8B-B14F-4D97-AF65-F5344CB8AC3E}">
        <p14:creationId xmlns:p14="http://schemas.microsoft.com/office/powerpoint/2010/main" val="1567256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Эталон и независимая оценка">
            <a:extLst xmlns:a="http://schemas.openxmlformats.org/drawingml/2006/main">
              <a:ext uri="{FF2B5EF4-FFF2-40B4-BE49-F238E27FC236}">
                <a16:creationId xmlns:a16="http://schemas.microsoft.com/office/drawing/2014/main" id="{03630C01-9554-478D-96B7-77A9C1B2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Эталон и независимая оценка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9E3A4C68-6783-4F47-8D99-867392D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55902790-21B2-45EA-89E1-24AB8EE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60 публикаций в gold">
            <a:extLst xmlns:a="http://schemas.openxmlformats.org/drawingml/2006/main">
              <a:ext uri="{FF2B5EF4-FFF2-40B4-BE49-F238E27FC236}">
                <a16:creationId xmlns:a16="http://schemas.microsoft.com/office/drawing/2014/main" id="{475A55FC-B9D4-4D83-869F-9D53262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60 публикаций в gold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76250" y="2476500"/>
          <a:ext xmlns:a="http://schemas.openxmlformats.org/drawingml/2006/main" cx="6762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b462d1ba2b465c"/>
          </a:graphicData>
        </a:graphic>
      </p:graphicFrame>
      <p:sp>
        <p:nvSpPr>
          <p:cNvPr id="6" name="Test не используется&#10;для настройки">
            <a:extLst xmlns:a="http://schemas.openxmlformats.org/drawingml/2006/main">
              <a:ext uri="{FF2B5EF4-FFF2-40B4-BE49-F238E27FC236}">
                <a16:creationId xmlns:a16="http://schemas.microsoft.com/office/drawing/2014/main" id="{564CC605-534E-486D-996E-893EB10E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3619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Test не используется</a:t>
            </a:r>
          </a:p>
          <a:p xmlns:a="http://schemas.openxmlformats.org/drawingml/2006/main">
            <a:pPr>
              <a:defRPr sz="24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для настройки</a:t>
            </a:r>
          </a:p>
        </p:txBody>
      </p:sp>
      <p:sp>
        <p:nvSpPr>
          <p:cNvPr id="7" name="Напарник независимо&#10;размечает весь t">
            <a:extLst xmlns:a="http://schemas.openxmlformats.org/drawingml/2006/main">
              <a:ext uri="{FF2B5EF4-FFF2-40B4-BE49-F238E27FC236}">
                <a16:creationId xmlns:a16="http://schemas.microsoft.com/office/drawing/2014/main" id="{AF91E9B7-AD1F-42C3-AE5A-58146F2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05200"/>
            <a:ext cx="3619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Напарник независимо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размечает весь test.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Плотность записей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сначала измеряется</a:t>
            </a:r>
          </a:p>
          <a:p xmlns:a="http://schemas.openxmlformats.org/drawingml/2006/main">
            <a:pPr>
              <a:defRPr sz="2025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на 10–15 статьях.</a:t>
            </a:r>
          </a:p>
        </p:txBody>
      </p:sp>
      <p:sp>
        <p:nvSpPr>
          <p:cNvPr id="8" name="План разметки. Рабочий корпус — окол">
            <a:extLst xmlns:a="http://schemas.openxmlformats.org/drawingml/2006/main">
              <a:ext uri="{FF2B5EF4-FFF2-40B4-BE49-F238E27FC236}">
                <a16:creationId xmlns:a16="http://schemas.microsoft.com/office/drawing/2014/main" id="{B519176B-BCC1-4324-8D03-EB90CDA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План разметки. Рабочий корпус — около 120 публикаций; реальная трудоёмкость ещё оценивается.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1603960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ервый продукт и 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3C8BFA34-68C2-4BAB-8A05-4C6B102E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Первый продукт и пользователь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69292FA1-5E92-4EB2-B091-0C58D11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97015045-542C-4E97-8904-FB21E7A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Проверяемая сравнительная таблица&#10;дл">
            <a:extLst xmlns:a="http://schemas.openxmlformats.org/drawingml/2006/main">
              <a:ext uri="{FF2B5EF4-FFF2-40B4-BE49-F238E27FC236}">
                <a16:creationId xmlns:a16="http://schemas.microsoft.com/office/drawing/2014/main" id="{A84A9284-E00C-48B2-B43D-957A2402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Проверяемая сравнительная таблица</a:t>
            </a:r>
          </a:p>
          <a:p xmlns:a="http://schemas.openxmlformats.org/drawingml/2006/main">
            <a:pPr>
              <a:defRPr sz="2775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для лаборатории мембран и электролитов</a:t>
            </a:r>
          </a:p>
        </p:txBody>
      </p:sp>
      <p:sp>
        <p:nvSpPr>
          <p:cNvPr id="5" name="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640D715E-18C5-408C-B0D4-DB53A47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6" name="Химик, регулярно сравнивающий свойст">
            <a:extLst xmlns:a="http://schemas.openxmlformats.org/drawingml/2006/main">
              <a:ext uri="{FF2B5EF4-FFF2-40B4-BE49-F238E27FC236}">
                <a16:creationId xmlns:a16="http://schemas.microsoft.com/office/drawing/2014/main" id="{B7972A7D-8FE2-46A8-8B46-9FB05B1D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Химик, регулярно сравнивающий свойства по публикациям.</a:t>
            </a:r>
          </a:p>
        </p:txBody>
      </p:sp>
      <p:sp>
        <p:nvSpPr>
          <p:cNvPr id="7" name="Поставка года">
            <a:extLst xmlns:a="http://schemas.openxmlformats.org/drawingml/2006/main">
              <a:ext uri="{FF2B5EF4-FFF2-40B4-BE49-F238E27FC236}">
                <a16:creationId xmlns:a16="http://schemas.microsoft.com/office/drawing/2014/main" id="{2374AE27-EA6E-46DD-9F3B-9344C72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Поставка года</a:t>
            </a:r>
          </a:p>
        </p:txBody>
      </p:sp>
      <p:sp>
        <p:nvSpPr>
          <p:cNvPr id="8" name="Локальный клиент, выбранная модель, ">
            <a:extLst xmlns:a="http://schemas.openxmlformats.org/drawingml/2006/main">
              <a:ext uri="{FF2B5EF4-FFF2-40B4-BE49-F238E27FC236}">
                <a16:creationId xmlns:a16="http://schemas.microsoft.com/office/drawing/2014/main" id="{0C0D321E-C325-4371-8A62-F12C113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Локальный клиент, выбранная модель, review и CSV/JSON.</a:t>
            </a:r>
          </a:p>
        </p:txBody>
      </p:sp>
      <p:sp>
        <p:nvSpPr>
          <p:cNvPr id="9" name="Пилот">
            <a:extLst xmlns:a="http://schemas.openxmlformats.org/drawingml/2006/main">
              <a:ext uri="{FF2B5EF4-FFF2-40B4-BE49-F238E27FC236}">
                <a16:creationId xmlns:a16="http://schemas.microsoft.com/office/drawing/2014/main" id="{5A55AFEA-5E69-4F5B-BDD9-3FE311C5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Пилот</a:t>
            </a:r>
          </a:p>
        </p:txBody>
      </p:sp>
      <p:sp>
        <p:nvSpPr>
          <p:cNvPr id="10" name="Реальная задача, ручной baseline и и">
            <a:extLst xmlns:a="http://schemas.openxmlformats.org/drawingml/2006/main">
              <a:ext uri="{FF2B5EF4-FFF2-40B4-BE49-F238E27FC236}">
                <a16:creationId xmlns:a16="http://schemas.microsoft.com/office/drawing/2014/main" id="{FF24A62F-3B3F-45EB-B53C-E5B4287A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Реальная задача, ручной baseline и измеренный эффект.</a:t>
            </a:r>
          </a:p>
        </p:txBody>
      </p:sp>
      <p:sp>
        <p:nvSpPr>
          <p:cNvPr id="11" name="Спрос не подтверждён: предложены 6–8">
            <a:extLst xmlns:a="http://schemas.openxmlformats.org/drawingml/2006/main">
              <a:ext uri="{FF2B5EF4-FFF2-40B4-BE49-F238E27FC236}">
                <a16:creationId xmlns:a16="http://schemas.microsoft.com/office/drawing/2014/main" id="{4D9CBB98-FE2B-42BE-8E79-AF3C64A2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Спрос не подтверждён: предложены 6–8 интервью и один согласованный пилот.</a:t>
            </a:r>
          </a:p>
        </p:txBody>
      </p:sp>
    </p:spTree>
    <p:extLst>
      <p:ext uri="{BB962C8B-B14F-4D97-AF65-F5344CB8AC3E}">
        <p14:creationId xmlns:p14="http://schemas.microsoft.com/office/powerpoint/2010/main" val="1442820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абочая станция и ARIADNE Box">
            <a:extLst xmlns:a="http://schemas.openxmlformats.org/drawingml/2006/main">
              <a:ext uri="{FF2B5EF4-FFF2-40B4-BE49-F238E27FC236}">
                <a16:creationId xmlns:a16="http://schemas.microsoft.com/office/drawing/2014/main" id="{588F018A-94C4-4FD6-9563-65D0CC67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Рабочая станция и ARIADNE Box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A465BC25-33AE-4463-A53D-7DC9253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A9CB2B2C-CB4E-4004-95B7-864C37DF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Конфигурацию определяет benchmark.&#10;П">
            <a:extLst xmlns:a="http://schemas.openxmlformats.org/drawingml/2006/main">
              <a:ext uri="{FF2B5EF4-FFF2-40B4-BE49-F238E27FC236}">
                <a16:creationId xmlns:a16="http://schemas.microsoft.com/office/drawing/2014/main" id="{F6360711-BCCE-4F89-A494-EE080B54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Конфигурацию определяет benchmark.</a:t>
            </a:r>
          </a:p>
          <a:p xmlns:a="http://schemas.openxmlformats.org/drawingml/2006/main">
            <a:pPr>
              <a:defRPr sz="27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Потолок со сборкой и доставкой — 1 млн ₽.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819400"/>
          <a:ext xmlns:a="http://schemas.openxmlformats.org/drawingml/2006/main" cx="109728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477250"/>
                <a:gridCol w="2495550"/>
              </a:tblGrid>
              <a:tr h="485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Плановый предел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тыс. ₽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Две GPU по 24 ГБ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560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CPU, плата, 128 ГБ RAM и БП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285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SSD, корпус, охлаждение, сборка, доставка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Резерв внутри миллиона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Закупочные потолки. ИБП и внешнее ba">
            <a:extLst xmlns:a="http://schemas.openxmlformats.org/drawingml/2006/main">
              <a:ext uri="{FF2B5EF4-FFF2-40B4-BE49-F238E27FC236}">
                <a16:creationId xmlns:a16="http://schemas.microsoft.com/office/drawing/2014/main" id="{25CFD10E-CE08-4B24-BCA6-C6A70D11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Закупочные потолки. ИБП и внешнее backup отдельно. Серийный Box — после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0845213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Дорожная карта на 12 месяцев">
            <a:extLst xmlns:a="http://schemas.openxmlformats.org/drawingml/2006/main">
              <a:ext uri="{FF2B5EF4-FFF2-40B4-BE49-F238E27FC236}">
                <a16:creationId xmlns:a16="http://schemas.microsoft.com/office/drawing/2014/main" id="{03238E00-E8CD-4C3B-A6A0-E0C56169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Дорожная карта на 12 месяцев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0CAED4D9-329C-4CAE-BDA9-3858BFB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794DEECD-E058-4697-B3B1-AD9048F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1–2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Схема, pilot-gold, baseline, текстовый extractor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3–4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Связанная запись, evidence, review и экспорт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5–6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Простые таблицы и ограниченные checks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7–8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Gold, validation, backup/restore и установка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9–10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Пилот, время химика, заморозка конфигурации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11–12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Untouched test, offline-приёмка и комплект поставки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Если review не экономит время — пере">
            <a:extLst xmlns:a="http://schemas.openxmlformats.org/drawingml/2006/main">
              <a:ext uri="{FF2B5EF4-FFF2-40B4-BE49-F238E27FC236}">
                <a16:creationId xmlns:a16="http://schemas.microsoft.com/office/drawing/2014/main" id="{CBEB58AF-54AF-4008-BF97-B6FCF648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Если review не экономит время — переработать ядро и снять расширения.</a:t>
            </a:r>
          </a:p>
        </p:txBody>
      </p:sp>
    </p:spTree>
    <p:extLst>
      <p:ext uri="{BB962C8B-B14F-4D97-AF65-F5344CB8AC3E}">
        <p14:creationId xmlns:p14="http://schemas.microsoft.com/office/powerpoint/2010/main" val="89317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Команда и реалистичный ресурс">
            <a:extLst xmlns:a="http://schemas.openxmlformats.org/drawingml/2006/main">
              <a:ext uri="{FF2B5EF4-FFF2-40B4-BE49-F238E27FC236}">
                <a16:creationId xmlns:a16="http://schemas.microsoft.com/office/drawing/2014/main" id="{EE06CC4A-C70C-45C1-BEB6-5C64E301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Команда и реалистичный ресурс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59F6E6EC-25D6-4771-951A-F86492F0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9A81AC84-245E-4DDC-B9A5-CE1B4957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Инициатор">
            <a:extLst xmlns:a="http://schemas.openxmlformats.org/drawingml/2006/main">
              <a:ext uri="{FF2B5EF4-FFF2-40B4-BE49-F238E27FC236}">
                <a16:creationId xmlns:a16="http://schemas.microsoft.com/office/drawing/2014/main" id="{355A6829-7E50-4BFB-A8F1-13576311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Инициатор</a:t>
            </a:r>
          </a:p>
        </p:txBody>
      </p:sp>
      <p:sp>
        <p:nvSpPr>
          <p:cNvPr id="5" name="Химик; 20–30 ч/неделю; разработка с ">
            <a:extLst xmlns:a="http://schemas.openxmlformats.org/drawingml/2006/main">
              <a:ext uri="{FF2B5EF4-FFF2-40B4-BE49-F238E27FC236}">
                <a16:creationId xmlns:a16="http://schemas.microsoft.com/office/drawing/2014/main" id="{79396212-3A91-4EFA-A9EF-4F3CD54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Химик; 20–30 ч/неделю; разработка с Codex и приёмка задач.</a:t>
            </a:r>
          </a:p>
        </p:txBody>
      </p:sp>
      <p:sp>
        <p:nvSpPr>
          <p:cNvPr id="6" name="Напарник">
            <a:extLst xmlns:a="http://schemas.openxmlformats.org/drawingml/2006/main">
              <a:ext uri="{FF2B5EF4-FFF2-40B4-BE49-F238E27FC236}">
                <a16:creationId xmlns:a16="http://schemas.microsoft.com/office/drawing/2014/main" id="{17726C06-5F02-4D84-B2E4-C84FD572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Напарник</a:t>
            </a:r>
          </a:p>
        </p:txBody>
      </p:sp>
      <p:sp>
        <p:nvSpPr>
          <p:cNvPr id="7" name="К.х.н.; независимая разметка и научн">
            <a:extLst xmlns:a="http://schemas.openxmlformats.org/drawingml/2006/main">
              <a:ext uri="{FF2B5EF4-FFF2-40B4-BE49-F238E27FC236}">
                <a16:creationId xmlns:a16="http://schemas.microsoft.com/office/drawing/2014/main" id="{1B29E7B8-F8F1-4F2E-816F-99F00A1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К.х.н.; независимая разметка и научная оценка. Роль и часы согласуются.</a:t>
            </a:r>
          </a:p>
        </p:txBody>
      </p:sp>
      <p:sp>
        <p:nvSpPr>
          <p:cNvPr id="8" name="Инженер">
            <a:extLst xmlns:a="http://schemas.openxmlformats.org/drawingml/2006/main">
              <a:ext uri="{FF2B5EF4-FFF2-40B4-BE49-F238E27FC236}">
                <a16:creationId xmlns:a16="http://schemas.microsoft.com/office/drawing/2014/main" id="{E90FBD9A-09BE-4A09-8629-1D058749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Инженер</a:t>
            </a:r>
          </a:p>
        </p:txBody>
      </p:sp>
      <p:sp>
        <p:nvSpPr>
          <p:cNvPr id="9" name="Периодическая помощь с миграциями, в">
            <a:extLst xmlns:a="http://schemas.openxmlformats.org/drawingml/2006/main">
              <a:ext uri="{FF2B5EF4-FFF2-40B4-BE49-F238E27FC236}">
                <a16:creationId xmlns:a16="http://schemas.microsoft.com/office/drawing/2014/main" id="{ADD34F7B-8303-4108-950B-01CC70AF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Периодическая помощь с миграциями, восстановлением и релизом.</a:t>
            </a:r>
          </a:p>
        </p:txBody>
      </p:sp>
      <p:sp>
        <p:nvSpPr>
          <p:cNvPr id="10" name="Плановая основа: 1150 часов пользова">
            <a:extLst xmlns:a="http://schemas.openxmlformats.org/drawingml/2006/main">
              <a:ext uri="{FF2B5EF4-FFF2-40B4-BE49-F238E27FC236}">
                <a16:creationId xmlns:a16="http://schemas.microsoft.com/office/drawing/2014/main" id="{1B7E22AE-C607-491F-8467-DEA91BE6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Плановая основа: 1150 часов пользователя за год,</a:t>
            </a:r>
          </a:p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включая 150 часов резерва</a:t>
            </a:r>
          </a:p>
        </p:txBody>
      </p:sp>
    </p:spTree>
    <p:extLst>
      <p:ext uri="{BB962C8B-B14F-4D97-AF65-F5344CB8AC3E}">
        <p14:creationId xmlns:p14="http://schemas.microsoft.com/office/powerpoint/2010/main" val="15044954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асчётный бюджет проекта">
            <a:extLst xmlns:a="http://schemas.openxmlformats.org/drawingml/2006/main">
              <a:ext uri="{FF2B5EF4-FFF2-40B4-BE49-F238E27FC236}">
                <a16:creationId xmlns:a16="http://schemas.microsoft.com/office/drawing/2014/main" id="{785ED755-26E7-4E14-976B-31DF1428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Расчётный бюджет проекта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ECBA0A58-4CC0-4475-85E5-3C276F15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D05DF15D-064B-4B7F-8624-81A9E35A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801100"/>
                <a:gridCol w="21717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Статья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тыс. ₽</a:t>
                      </a:r>
                    </a:p>
                  </a:txBody>
                  <a:tcPr marL="114300" marR="114300" marT="66675" marB="66675">
                    <a:solidFill>
                      <a:srgbClr val="1A2E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Два химика с начислениями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Станция, сборка, проверка и её резерв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Инженерное сопровождение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Инструменты / необходимые сервисы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Независимая проверка + ИБП, backup, эксплуатация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Аналоги и права + пилот и документация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Расходы организации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2E40"/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</a:p>
                  </a:txBody>
                  <a:tcPr marL="114300" marR="114300" marT="66675" marB="66675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Предварительный сценарий. Смета и до">
            <a:extLst xmlns:a="http://schemas.openxmlformats.org/drawingml/2006/main">
              <a:ext uri="{FF2B5EF4-FFF2-40B4-BE49-F238E27FC236}">
                <a16:creationId xmlns:a16="http://schemas.microsoft.com/office/drawing/2014/main" id="{EA17BBF0-9617-4402-BF18-42EC2A6F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Предварительный сценарий. Смета и допустимость оборудования требуют согласования.</a:t>
            </a:r>
          </a:p>
        </p:txBody>
      </p:sp>
    </p:spTree>
    <p:extLst>
      <p:ext uri="{BB962C8B-B14F-4D97-AF65-F5344CB8AC3E}">
        <p14:creationId xmlns:p14="http://schemas.microsoft.com/office/powerpoint/2010/main" val="11755978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Риски и критерии продолжения">
            <a:extLst xmlns:a="http://schemas.openxmlformats.org/drawingml/2006/main">
              <a:ext uri="{FF2B5EF4-FFF2-40B4-BE49-F238E27FC236}">
                <a16:creationId xmlns:a16="http://schemas.microsoft.com/office/drawing/2014/main" id="{EF23FF9C-05F9-422E-AD9A-5E4CB3A4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Риски и критерии продолжения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9D00BE5A-F156-4CEB-820D-48B179D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5B526AA1-E7E4-4F67-9757-970CA121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Качество">
            <a:extLst xmlns:a="http://schemas.openxmlformats.org/drawingml/2006/main">
              <a:ext uri="{FF2B5EF4-FFF2-40B4-BE49-F238E27FC236}">
                <a16:creationId xmlns:a16="http://schemas.microsoft.com/office/drawing/2014/main" id="{E501B244-2216-413C-A7AC-EBB3993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Качество</a:t>
            </a:r>
          </a:p>
        </p:txBody>
      </p:sp>
      <p:sp>
        <p:nvSpPr>
          <p:cNvPr id="5" name="Измерять precision вместе с recall, ">
            <a:extLst xmlns:a="http://schemas.openxmlformats.org/drawingml/2006/main">
              <a:ext uri="{FF2B5EF4-FFF2-40B4-BE49-F238E27FC236}">
                <a16:creationId xmlns:a16="http://schemas.microsoft.com/office/drawing/2014/main" id="{96680259-20FB-492D-96E5-C1726A69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Измерять precision вместе с recall, coverage и ложными отказами.</a:t>
            </a:r>
          </a:p>
        </p:txBody>
      </p:sp>
      <p:sp>
        <p:nvSpPr>
          <p:cNvPr id="6" name="Трудоёмкость">
            <a:extLst xmlns:a="http://schemas.openxmlformats.org/drawingml/2006/main">
              <a:ext uri="{FF2B5EF4-FFF2-40B4-BE49-F238E27FC236}">
                <a16:creationId xmlns:a16="http://schemas.microsoft.com/office/drawing/2014/main" id="{B35D8C77-1BF9-4B06-BAD2-3036379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Трудоёмкость</a:t>
            </a:r>
          </a:p>
        </p:txBody>
      </p:sp>
      <p:sp>
        <p:nvSpPr>
          <p:cNvPr id="7" name="Проверять полное время; при отсутств">
            <a:extLst xmlns:a="http://schemas.openxmlformats.org/drawingml/2006/main">
              <a:ext uri="{FF2B5EF4-FFF2-40B4-BE49-F238E27FC236}">
                <a16:creationId xmlns:a16="http://schemas.microsoft.com/office/drawing/2014/main" id="{6E9D32C0-9F7B-460B-BBC1-C5B79C14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Проверять полное время; при отсутствии выигрыша менять workflow.</a:t>
            </a:r>
          </a:p>
        </p:txBody>
      </p:sp>
      <p:sp>
        <p:nvSpPr>
          <p:cNvPr id="8" name="Эксплуатация">
            <a:extLst xmlns:a="http://schemas.openxmlformats.org/drawingml/2006/main">
              <a:ext uri="{FF2B5EF4-FFF2-40B4-BE49-F238E27FC236}">
                <a16:creationId xmlns:a16="http://schemas.microsoft.com/office/drawing/2014/main" id="{995C88C1-BA36-4666-811A-D78161B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9" name="Испытать установку и восстановление;">
            <a:extLst xmlns:a="http://schemas.openxmlformats.org/drawingml/2006/main">
              <a:ext uri="{FF2B5EF4-FFF2-40B4-BE49-F238E27FC236}">
                <a16:creationId xmlns:a16="http://schemas.microsoft.com/office/drawing/2014/main" id="{E114531E-FEC3-48D3-B0C5-5449388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Испытать установку и восстановление; offline — с отключённой сетью.</a:t>
            </a:r>
          </a:p>
        </p:txBody>
      </p:sp>
      <p:sp>
        <p:nvSpPr>
          <p:cNvPr id="10" name="Права и рынок">
            <a:extLst xmlns:a="http://schemas.openxmlformats.org/drawingml/2006/main">
              <a:ext uri="{FF2B5EF4-FFF2-40B4-BE49-F238E27FC236}">
                <a16:creationId xmlns:a16="http://schemas.microsoft.com/office/drawing/2014/main" id="{5E448132-BB02-443F-9A9C-C57D7863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Права и рынок</a:t>
            </a:r>
          </a:p>
        </p:txBody>
      </p:sp>
      <p:sp>
        <p:nvSpPr>
          <p:cNvPr id="11" name="IP и партнёрство согласуются; интерв">
            <a:extLst xmlns:a="http://schemas.openxmlformats.org/drawingml/2006/main">
              <a:ext uri="{FF2B5EF4-FFF2-40B4-BE49-F238E27FC236}">
                <a16:creationId xmlns:a16="http://schemas.microsoft.com/office/drawing/2014/main" id="{A29CAE03-FB6F-4E66-8167-0575B420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IP и партнёрство согласуются; интервью и продажи ещё не состоялись.</a:t>
            </a:r>
          </a:p>
        </p:txBody>
      </p:sp>
      <p:sp>
        <p:nvSpPr>
          <p:cNvPr id="12" name="Победа в конкурсе и коммерческий усп">
            <a:extLst xmlns:a="http://schemas.openxmlformats.org/drawingml/2006/main">
              <a:ext uri="{FF2B5EF4-FFF2-40B4-BE49-F238E27FC236}">
                <a16:creationId xmlns:a16="http://schemas.microsoft.com/office/drawing/2014/main" id="{DF3270EA-F754-45B2-9E17-C0DD3E48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Победа в конкурсе и коммерческий успех не установлены.</a:t>
            </a:r>
          </a:p>
        </p:txBody>
      </p:sp>
    </p:spTree>
    <p:extLst>
      <p:ext uri="{BB962C8B-B14F-4D97-AF65-F5344CB8AC3E}">
        <p14:creationId xmlns:p14="http://schemas.microsoft.com/office/powerpoint/2010/main" val="6382820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едложение для обсуждения с ИХТТ">
            <a:extLst xmlns:a="http://schemas.openxmlformats.org/drawingml/2006/main">
              <a:ext uri="{FF2B5EF4-FFF2-40B4-BE49-F238E27FC236}">
                <a16:creationId xmlns:a16="http://schemas.microsoft.com/office/drawing/2014/main" id="{C91221CA-8285-475B-8EB4-A6B19198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Предложение для обсуждения с ИХТТ</a:t>
            </a:r>
          </a:p>
        </p:txBody>
      </p:sp>
      <p:sp>
        <p:nvSpPr>
          <p:cNvPr id="2" name="ARIADNE · концепция v1.1 · 06.10.202">
            <a:extLst xmlns:a="http://schemas.openxmlformats.org/drawingml/2006/main">
              <a:ext uri="{FF2B5EF4-FFF2-40B4-BE49-F238E27FC236}">
                <a16:creationId xmlns:a16="http://schemas.microsoft.com/office/drawing/2014/main" id="{0A61C25E-9581-4736-BAD0-292C0C51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ARIADNE · концепция v1.1 · 06.10.2026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552C675E-1211-48BF-88EA-4348D15B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Согласовать короткий предзаявочный п">
            <a:extLst xmlns:a="http://schemas.openxmlformats.org/drawingml/2006/main">
              <a:ext uri="{FF2B5EF4-FFF2-40B4-BE49-F238E27FC236}">
                <a16:creationId xmlns:a16="http://schemas.microsoft.com/office/drawing/2014/main" id="{4ABDA031-394B-469C-BB23-538810F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E40"/>
                </a:solidFill>
                <a:latin typeface="Arial"/>
                <a:ea typeface="Arial"/>
                <a:cs typeface="Arial"/>
              </a:rPr>
              <a:t>Согласовать короткий предзаявочный пилот</a:t>
            </a:r>
          </a:p>
        </p:txBody>
      </p:sp>
      <p:sp>
        <p:nvSpPr>
          <p:cNvPr id="5" name="Организация">
            <a:extLst xmlns:a="http://schemas.openxmlformats.org/drawingml/2006/main">
              <a:ext uri="{FF2B5EF4-FFF2-40B4-BE49-F238E27FC236}">
                <a16:creationId xmlns:a16="http://schemas.microsoft.com/office/drawing/2014/main" id="{CB024AC3-1149-423E-9631-5F7DBFCE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Организация</a:t>
            </a:r>
          </a:p>
        </p:txBody>
      </p:sp>
      <p:sp>
        <p:nvSpPr>
          <p:cNvPr id="6" name="Определить руководителя, состав кома">
            <a:extLst xmlns:a="http://schemas.openxmlformats.org/drawingml/2006/main">
              <a:ext uri="{FF2B5EF4-FFF2-40B4-BE49-F238E27FC236}">
                <a16:creationId xmlns:a16="http://schemas.microsoft.com/office/drawing/2014/main" id="{9422FC47-84B1-4A9D-BC82-1A0EC936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Определить руководителя, состав команды и пользователя пилота.</a:t>
            </a:r>
          </a:p>
        </p:txBody>
      </p:sp>
      <p:sp>
        <p:nvSpPr>
          <p:cNvPr id="7" name="Научный сценарий">
            <a:extLst xmlns:a="http://schemas.openxmlformats.org/drawingml/2006/main">
              <a:ext uri="{FF2B5EF4-FFF2-40B4-BE49-F238E27FC236}">
                <a16:creationId xmlns:a16="http://schemas.microsoft.com/office/drawing/2014/main" id="{E03E5C5A-1C15-485E-9413-48400E7A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Научный сценарий</a:t>
            </a:r>
          </a:p>
        </p:txBody>
      </p:sp>
      <p:sp>
        <p:nvSpPr>
          <p:cNvPr id="8" name="Выбрать проводимость и 10–15 публика">
            <a:extLst xmlns:a="http://schemas.openxmlformats.org/drawingml/2006/main">
              <a:ext uri="{FF2B5EF4-FFF2-40B4-BE49-F238E27FC236}">
                <a16:creationId xmlns:a16="http://schemas.microsoft.com/office/drawing/2014/main" id="{D7E7047D-E11F-4430-8849-92090A38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Выбрать проводимость и 10–15 публикаций для первичного опыта.</a:t>
            </a:r>
          </a:p>
        </p:txBody>
      </p:sp>
      <p:sp>
        <p:nvSpPr>
          <p:cNvPr id="9" name="Ресурс и права">
            <a:extLst xmlns:a="http://schemas.openxmlformats.org/drawingml/2006/main">
              <a:ext uri="{FF2B5EF4-FFF2-40B4-BE49-F238E27FC236}">
                <a16:creationId xmlns:a16="http://schemas.microsoft.com/office/drawing/2014/main" id="{E4B5E41E-E7A9-47A7-97F8-FFCF9093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7"/>
                </a:solidFill>
                <a:latin typeface="Arial"/>
                <a:ea typeface="Arial"/>
                <a:cs typeface="Arial"/>
              </a:rPr>
              <a:t>Ресурс и права</a:t>
            </a:r>
          </a:p>
        </p:txBody>
      </p:sp>
      <p:sp>
        <p:nvSpPr>
          <p:cNvPr id="10" name="Уточнить смету, инфраструктуру и Bac">
            <a:extLst xmlns:a="http://schemas.openxmlformats.org/drawingml/2006/main">
              <a:ext uri="{FF2B5EF4-FFF2-40B4-BE49-F238E27FC236}">
                <a16:creationId xmlns:a16="http://schemas.microsoft.com/office/drawing/2014/main" id="{1E721685-1261-458D-A90B-AB4DEEE9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2E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E40"/>
                </a:solidFill>
                <a:latin typeface="Arial"/>
                <a:ea typeface="Arial"/>
                <a:cs typeface="Arial"/>
              </a:rPr>
              <a:t>Уточнить смету, инфраструктуру и Background / Foreground IP.</a:t>
            </a:r>
          </a:p>
        </p:txBody>
      </p:sp>
      <p:sp>
        <p:nvSpPr>
          <p:cNvPr id="11" name="ИХТТ — рассматриваемый партнёр. Доку">
            <a:extLst xmlns:a="http://schemas.openxmlformats.org/drawingml/2006/main">
              <a:ext uri="{FF2B5EF4-FFF2-40B4-BE49-F238E27FC236}">
                <a16:creationId xmlns:a16="http://schemas.microsoft.com/office/drawing/2014/main" id="{7ADDB11C-08DA-4F31-BFDA-8F2269B4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E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E7D"/>
                </a:solidFill>
                <a:latin typeface="Arial"/>
                <a:ea typeface="Arial"/>
                <a:cs typeface="Arial"/>
              </a:rPr>
              <a:t>ИХТТ — рассматриваемый партнёр. Документ для обсуждения; согласие не получено.</a:t>
            </a:r>
          </a:p>
        </p:txBody>
      </p:sp>
    </p:spTree>
    <p:extLst>
      <p:ext uri="{BB962C8B-B14F-4D97-AF65-F5344CB8AC3E}">
        <p14:creationId xmlns:p14="http://schemas.microsoft.com/office/powerpoint/2010/main" val="1222323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2026-10-06T06:59:18.3550000Z</dcterms:created>
  <dcterms:modified xsi:type="dcterms:W3CDTF">2026-10-06T06:59:18.3550000Z</dcterms:modified>
</coreProperties>
</file>