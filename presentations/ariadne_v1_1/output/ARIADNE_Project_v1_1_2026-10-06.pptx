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7a052dddd4a92" /><Relationship Type="http://schemas.openxmlformats.org/officeDocument/2006/relationships/extended-properties" Target="/docProps/app.xml" Id="Rc7aa01237ed14a19" /><Relationship Type="http://schemas.openxmlformats.org/officeDocument/2006/relationships/officeDocument" Target="/ppt/presentation.xml" Id="R30c93397595a41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3853f485941a8"/>
  </p:sldMasterIdLst>
  <p:notesMasterIdLst>
    <p:notesMasterId xmlns:r="http://schemas.openxmlformats.org/officeDocument/2006/relationships" r:id="Rf33ddf2e71c74e32"/>
  </p:notesMasterIdLst>
  <p:sldIdLst>
    <p:sldId xmlns:r="http://schemas.openxmlformats.org/officeDocument/2006/relationships" id="256" r:id="Rca84f810c2e54e35"/>
    <p:sldId xmlns:r="http://schemas.openxmlformats.org/officeDocument/2006/relationships" id="257" r:id="R9348e7a52ce14750"/>
    <p:sldId xmlns:r="http://schemas.openxmlformats.org/officeDocument/2006/relationships" id="258" r:id="Ra63f77dbc5574ca3"/>
    <p:sldId xmlns:r="http://schemas.openxmlformats.org/officeDocument/2006/relationships" id="259" r:id="R7f0ea9c5b0b84e30"/>
    <p:sldId xmlns:r="http://schemas.openxmlformats.org/officeDocument/2006/relationships" id="260" r:id="R44cb580d70c644cf"/>
    <p:sldId xmlns:r="http://schemas.openxmlformats.org/officeDocument/2006/relationships" id="261" r:id="Ref441dbb95b34d08"/>
    <p:sldId xmlns:r="http://schemas.openxmlformats.org/officeDocument/2006/relationships" id="262" r:id="R4f031c73d0814bc9"/>
    <p:sldId xmlns:r="http://schemas.openxmlformats.org/officeDocument/2006/relationships" id="263" r:id="Rd48857c2eeac40af"/>
    <p:sldId xmlns:r="http://schemas.openxmlformats.org/officeDocument/2006/relationships" id="264" r:id="R0925a7f0b8244006"/>
    <p:sldId xmlns:r="http://schemas.openxmlformats.org/officeDocument/2006/relationships" id="265" r:id="Rb1720200d0d24b81"/>
    <p:sldId xmlns:r="http://schemas.openxmlformats.org/officeDocument/2006/relationships" id="266" r:id="R7abff70d2bb64594"/>
    <p:sldId xmlns:r="http://schemas.openxmlformats.org/officeDocument/2006/relationships" id="267" r:id="Rf9613b26caeb498e"/>
    <p:sldId xmlns:r="http://schemas.openxmlformats.org/officeDocument/2006/relationships" id="268" r:id="R131d9a6300e94500"/>
    <p:sldId xmlns:r="http://schemas.openxmlformats.org/officeDocument/2006/relationships" id="269" r:id="Rfac3d7d4cdd0475c"/>
    <p:sldId xmlns:r="http://schemas.openxmlformats.org/officeDocument/2006/relationships" id="270" r:id="Rdca281a06c2c43d8"/>
    <p:sldId xmlns:r="http://schemas.openxmlformats.org/officeDocument/2006/relationships" id="271" r:id="R1e7e0d61ead34a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6623b2ebbd4a21" /><Relationship Type="http://schemas.openxmlformats.org/officeDocument/2006/relationships/slideMaster" Target="/ppt/slideMasters/slideMaster1.xml" Id="Re483853f485941a8" /><Relationship Type="http://schemas.openxmlformats.org/officeDocument/2006/relationships/notesMaster" Target="/ppt/notesMasters/notesMaster1.xml" Id="Rf33ddf2e71c74e32" /><Relationship Type="http://schemas.openxmlformats.org/officeDocument/2006/relationships/presProps" Target="/ppt/presProps.xml" Id="R781e161122fb4d33" /><Relationship Type="http://schemas.openxmlformats.org/officeDocument/2006/relationships/tableStyles" Target="/ppt/tableStyles.xml" Id="R20e2ce8f3c814064" /><Relationship Type="http://schemas.openxmlformats.org/officeDocument/2006/relationships/slide" Target="/ppt/slides/slide1.xml" Id="Rca84f810c2e54e35" /><Relationship Type="http://schemas.openxmlformats.org/officeDocument/2006/relationships/slide" Target="/ppt/slides/slide2.xml" Id="R9348e7a52ce14750" /><Relationship Type="http://schemas.openxmlformats.org/officeDocument/2006/relationships/slide" Target="/ppt/slides/slide3.xml" Id="Ra63f77dbc5574ca3" /><Relationship Type="http://schemas.openxmlformats.org/officeDocument/2006/relationships/slide" Target="/ppt/slides/slide4.xml" Id="R7f0ea9c5b0b84e30" /><Relationship Type="http://schemas.openxmlformats.org/officeDocument/2006/relationships/slide" Target="/ppt/slides/slide5.xml" Id="R44cb580d70c644cf" /><Relationship Type="http://schemas.openxmlformats.org/officeDocument/2006/relationships/slide" Target="/ppt/slides/slide6.xml" Id="Ref441dbb95b34d08" /><Relationship Type="http://schemas.openxmlformats.org/officeDocument/2006/relationships/slide" Target="/ppt/slides/slide7.xml" Id="R4f031c73d0814bc9" /><Relationship Type="http://schemas.openxmlformats.org/officeDocument/2006/relationships/slide" Target="/ppt/slides/slide8.xml" Id="Rd48857c2eeac40af" /><Relationship Type="http://schemas.openxmlformats.org/officeDocument/2006/relationships/slide" Target="/ppt/slides/slide9.xml" Id="R0925a7f0b8244006" /><Relationship Type="http://schemas.openxmlformats.org/officeDocument/2006/relationships/slide" Target="/ppt/slides/slide10.xml" Id="Rb1720200d0d24b81" /><Relationship Type="http://schemas.openxmlformats.org/officeDocument/2006/relationships/slide" Target="/ppt/slides/slide11.xml" Id="R7abff70d2bb64594" /><Relationship Type="http://schemas.openxmlformats.org/officeDocument/2006/relationships/slide" Target="/ppt/slides/slide12.xml" Id="Rf9613b26caeb498e" /><Relationship Type="http://schemas.openxmlformats.org/officeDocument/2006/relationships/slide" Target="/ppt/slides/slide13.xml" Id="R131d9a6300e94500" /><Relationship Type="http://schemas.openxmlformats.org/officeDocument/2006/relationships/slide" Target="/ppt/slides/slide14.xml" Id="Rfac3d7d4cdd0475c" /><Relationship Type="http://schemas.openxmlformats.org/officeDocument/2006/relationships/slide" Target="/ppt/slides/slide15.xml" Id="Rdca281a06c2c43d8" /><Relationship Type="http://schemas.openxmlformats.org/officeDocument/2006/relationships/slide" Target="/ppt/slides/slide16.xml" Id="R1e7e0d61ead34a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5a515c1d304c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267e5261e45ba" /><Relationship Type="http://schemas.openxmlformats.org/officeDocument/2006/relationships/notesMaster" Target="/ppt/notesMasters/notesMaster1.xml" Id="R3ab9926c48f041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71525f547745dc" /><Relationship Type="http://schemas.openxmlformats.org/officeDocument/2006/relationships/notesMaster" Target="/ppt/notesMasters/notesMaster1.xml" Id="R2d0791a51b2449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e0a5cc1c16430b" /><Relationship Type="http://schemas.openxmlformats.org/officeDocument/2006/relationships/notesMaster" Target="/ppt/notesMasters/notesMaster1.xml" Id="Rb8c2cae0dd294b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6ede9a121642b1" /><Relationship Type="http://schemas.openxmlformats.org/officeDocument/2006/relationships/notesMaster" Target="/ppt/notesMasters/notesMaster1.xml" Id="Rd675a0268e9c4b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823eb660c64f50" /><Relationship Type="http://schemas.openxmlformats.org/officeDocument/2006/relationships/notesMaster" Target="/ppt/notesMasters/notesMaster1.xml" Id="R4397b09d166c4f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111015918d45c7" /><Relationship Type="http://schemas.openxmlformats.org/officeDocument/2006/relationships/notesMaster" Target="/ppt/notesMasters/notesMaster1.xml" Id="R2c44aee76b2141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9ec9754d3e4705" /><Relationship Type="http://schemas.openxmlformats.org/officeDocument/2006/relationships/notesMaster" Target="/ppt/notesMasters/notesMaster1.xml" Id="R7908f0e5b5a741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6cfd4504804cd6" /><Relationship Type="http://schemas.openxmlformats.org/officeDocument/2006/relationships/notesMaster" Target="/ppt/notesMasters/notesMaster1.xml" Id="R7804ede1923b42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7727d7260f4174" /><Relationship Type="http://schemas.openxmlformats.org/officeDocument/2006/relationships/notesMaster" Target="/ppt/notesMasters/notesMaster1.xml" Id="R1689bcb2774f4b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9a5825813f47fe" /><Relationship Type="http://schemas.openxmlformats.org/officeDocument/2006/relationships/notesMaster" Target="/ppt/notesMasters/notesMaster1.xml" Id="Rab6bdad10e014c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0c54d7af1a4508" /><Relationship Type="http://schemas.openxmlformats.org/officeDocument/2006/relationships/notesMaster" Target="/ppt/notesMasters/notesMaster1.xml" Id="R9d6e20d1d5184e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5f8923647e4ffe" /><Relationship Type="http://schemas.openxmlformats.org/officeDocument/2006/relationships/notesMaster" Target="/ppt/notesMasters/notesMaster1.xml" Id="Rffe1816248614a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580dbb5bc44272" /><Relationship Type="http://schemas.openxmlformats.org/officeDocument/2006/relationships/notesMaster" Target="/ppt/notesMasters/notesMaster1.xml" Id="Rd2fe7a3ad15248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1f37d2a88a4671" /><Relationship Type="http://schemas.openxmlformats.org/officeDocument/2006/relationships/notesMaster" Target="/ppt/notesMasters/notesMaster1.xml" Id="R20778d90949d43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140877d4cb4032" /><Relationship Type="http://schemas.openxmlformats.org/officeDocument/2006/relationships/notesMaster" Target="/ppt/notesMasters/notesMaster1.xml" Id="R528709e906344c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0c871829f84eb8" /><Relationship Type="http://schemas.openxmlformats.org/officeDocument/2006/relationships/notesMaster" Target="/ppt/notesMasters/notesMaster1.xml" Id="R3ef59001cd9b4c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D:/Nafion-RAG/handoffs/ARIADNE_OPTIMIZED_CONCEPT_v1_1_2026-10-06/01_PROJECT_CONCEPT.md; оригинальный логотип D:/Nafion-RAG/app/static/brand/ariadne-logo-horizontal.png. Концепция для обсуждения с ИХТТ и подготовки заявки; не поданная заявка и не готовый серийный продукт.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D:/Nafion-RAG/handoffs/ARIADNE_OPTIMIZED_CONCEPT_v1_1_2026-10-06/01_PROJECT_CONCEPT.md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D:/Nafion-RAG/handoffs/ARIADNE_OPTIMIZED_CONCEPT_v1_1_2026-10-06/04_ARCHITECTURE_AND_IP.md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D:/Nafion-RAG/handoffs/ARIADNE_OPTIMIZED_CONCEPT_v1_1_2026-10-06/09_CURRENT_STATE_AND_EVIDENCE.md</a:t>
            </a:r>
          </a:p>
          <a:p xmlns:a="http://schemas.openxmlformats.org/drawingml/2006/main">
            <a:r>
              <a:t>Сохранённый аудит 06.10.2026: pytest 595 passed, 1 warning; корпус 33 статьи, 493 страницы, 619 chunks. Retrieval 46/46 на development/regression, не независимый научный holdout. Проверки для презентации не повторялись.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D:/Nafion-RAG/handoffs/ARIADNE_OPTIMIZED_CONCEPT_v1_1_2026-10-06/02_GRANT_CORE_AND_KPI.md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D:/Nafion-RAG/handoffs/ARIADNE_OPTIMIZED_CONCEPT_v1_1_2026-10-06/01_PROJECT_CONCEPT.md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D:/Nafion-RAG/handoffs/ARIADNE_OPTIMIZED_CONCEPT_v1_1_2026-10-06/04_ARCHITECTURE_AND_IP.md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D:/Nafion-RAG/handoffs/ARIADNE_OPTIMIZED_CONCEPT_v1_1_2026-10-06/02_GRANT_CORE_AND_KPI.md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D:/Nafion-RAG/handoffs/ARIADNE_OPTIMIZED_CONCEPT_v1_1_2026-10-06/02_GRANT_CORE_AND_KPI.md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D:/Nafion-RAG/handoffs/ARIADNE_OPTIMIZED_CONCEPT_v1_1_2026-10-06/03_PRODUCT_AND_COMMERCIALIZATION.md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D:/Nafion-RAG/handoffs/ARIADNE_OPTIMIZED_CONCEPT_v1_1_2026-10-06/05_HARDWARE_AND_BUDGET.md</a:t>
            </a:r>
          </a:p>
          <a:p xmlns:a="http://schemas.openxmlformats.org/drawingml/2006/main">
            <a:r>
              <a:t>Исторический кандидат: две AFOX RTX3090 по24ГБ, EPYC7402P/H12SSL-I,128ГБ ECC,2ТБ TLC. CPU/RAM б/у с гарантией. Не подтверждённое предложение. ИБП, внешнее backup, монитор и подписки вне системного блока.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D:/Nafion-RAG/handoffs/ARIADNE_OPTIMIZED_CONCEPT_v1_1_2026-10-06/06_ROADMAP_AND_TEAM.md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D:/Nafion-RAG/handoffs/ARIADNE_OPTIMIZED_CONCEPT_v1_1_2026-10-06/06_ROADMAP_AND_TEAM.md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D:/Nafion-RAG/handoffs/ARIADNE_OPTIMIZED_CONCEPT_v1_1_2026-10-06/05_HARDWARE_AND_BUDGET.md</a:t>
            </a:r>
          </a:p>
          <a:p xmlns:a="http://schemas.openxmlformats.org/drawingml/2006/main">
            <a:r>
              <a:t>Сценарий не согласован. Зарплаты включают предполагаемые начисления; коэффициенты и организационные расходы требуют бухгалтерского расчёта. Сервисы 300тыс. не равны цене Codex Pro. Аппаратный резерв находится внутри строки станции. Свободного резерва общего проекта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D:/Nafion-RAG/handoffs/ARIADNE_OPTIMIZED_CONCEPT_v1_1_2026-10-06/08_DECISIONS_AND_RISKS.md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D:/Nafion-RAG/handoffs/ARIADNE_OPTIMIZED_CONCEPT_v1_1_2026-10-06/07_IHTT_ONE_PAGE_MEMO.md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d50727a3546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8f94a5447740c2" /><Relationship Type="http://schemas.openxmlformats.org/officeDocument/2006/relationships/slideLayout" Target="/ppt/slideLayouts/slideLayout1.xml" Id="Rd8023d6267e54c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023d6267e5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6b8ea6208490c" /><Relationship Type="http://schemas.openxmlformats.org/officeDocument/2006/relationships/image" Target="/ppt/media/image.png" Id="R9b75423c8f7c404e" /><Relationship Type="http://schemas.openxmlformats.org/officeDocument/2006/relationships/notesSlide" Target="/ppt/notesSlides/notesSlide1.xml" Id="R73b7d22063f743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be740d47d473a" /><Relationship Type="http://schemas.openxmlformats.org/officeDocument/2006/relationships/notesSlide" Target="/ppt/notesSlides/notesSlide2.xml" Id="R04da348c062e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a250876414b05" /><Relationship Type="http://schemas.openxmlformats.org/officeDocument/2006/relationships/notesSlide" Target="/ppt/notesSlides/notesSlide3.xml" Id="Rc4c8992c6819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c4e8854334fe3" /><Relationship Type="http://schemas.openxmlformats.org/officeDocument/2006/relationships/notesSlide" Target="/ppt/notesSlides/notesSlide4.xml" Id="R328f324bcb2745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98f73450b409c" /><Relationship Type="http://schemas.openxmlformats.org/officeDocument/2006/relationships/notesSlide" Target="/ppt/notesSlides/notesSlide5.xml" Id="Rd6526711a56340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c7155e1af44bd" /><Relationship Type="http://schemas.openxmlformats.org/officeDocument/2006/relationships/notesSlide" Target="/ppt/notesSlides/notesSlide6.xml" Id="R541da285e05044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8e5f7cac745d8" /><Relationship Type="http://schemas.openxmlformats.org/officeDocument/2006/relationships/notesSlide" Target="/ppt/notesSlides/notesSlide7.xml" Id="Rdd538430bee849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d78e3ba2847b6" /><Relationship Type="http://schemas.openxmlformats.org/officeDocument/2006/relationships/notesSlide" Target="/ppt/notesSlides/notesSlide8.xml" Id="Re16089f567724d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1a3835fac4776" /><Relationship Type="http://schemas.openxmlformats.org/officeDocument/2006/relationships/chart" Target="/ppt/slides/charts/chart1.xml" Id="R1babc15217534c0d" /><Relationship Type="http://schemas.openxmlformats.org/officeDocument/2006/relationships/notesSlide" Target="/ppt/notesSlides/notesSlide9.xml" Id="Rece54abc8cda4e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a0dffa5714d67" /><Relationship Type="http://schemas.openxmlformats.org/officeDocument/2006/relationships/notesSlide" Target="/ppt/notesSlides/notesSlide10.xml" Id="R17b78734298848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94f096fd54b99" /><Relationship Type="http://schemas.openxmlformats.org/officeDocument/2006/relationships/notesSlide" Target="/ppt/notesSlides/notesSlide11.xml" Id="Rf2d929be07a842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1102930384427" /><Relationship Type="http://schemas.openxmlformats.org/officeDocument/2006/relationships/notesSlide" Target="/ppt/notesSlides/notesSlide12.xml" Id="Rbd86933134944c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276ba16a14ebc" /><Relationship Type="http://schemas.openxmlformats.org/officeDocument/2006/relationships/notesSlide" Target="/ppt/notesSlides/notesSlide13.xml" Id="Rde13a956a7944b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0323912304ddb" /><Relationship Type="http://schemas.openxmlformats.org/officeDocument/2006/relationships/notesSlide" Target="/ppt/notesSlides/notesSlide14.xml" Id="R6dd32f4c363348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8f5a5dcdf449e" /><Relationship Type="http://schemas.openxmlformats.org/officeDocument/2006/relationships/notesSlide" Target="/ppt/notesSlides/notesSlide15.xml" Id="R29a8105175ce4c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8ac01d8124146" /><Relationship Type="http://schemas.openxmlformats.org/officeDocument/2006/relationships/notesSlide" Target="/ppt/notesSlides/notesSlide16.xml" Id="R717684d375a2412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Публикации</c:v>
          </c:tx>
          <c:spPr>
            <a:solidFill xmlns:a="http://schemas.openxmlformats.org/drawingml/2006/main">
              <a:srgbClr val="007F87"/>
            </a:solidFill>
          </c:spPr>
          <c:cat>
            <c:strRef>
              <c:f>'Chart Data'!$A$2:$A$4</c:f>
              <c:strCache>
                <c:ptCount val="3"/>
                <c:pt idx="0">
                  <c:v>Разработка</c:v>
                </c:pt>
                <c:pt idx="1">
                  <c:v>Настройка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A2E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5423c8f7c404e"/>
          <a:stretch xmlns:a="http://schemas.openxmlformats.org/drawingml/2006/main"/>
        </p:blipFill>
        <p:spPr>
          <a:xfrm xmlns:a="http://schemas.openxmlformats.org/drawingml/2006/main">
            <a:off x="609600" y="463189"/>
            <a:ext cx="4000500" cy="1740623"/>
          </a:xfrm>
          <a:prstGeom xmlns:a="http://schemas.openxmlformats.org/drawingml/2006/main" prst="rect">
            <a:avLst/>
          </a:prstGeom>
        </p:spPr>
      </p:pic>
      <p:sp>
        <p:nvSpPr>
          <p:cNvPr id="2" name="Проверяемые экспериментальные&#10;данные">
            <a:extLst xmlns:a="http://schemas.openxmlformats.org/drawingml/2006/main">
              <a:ext uri="{FF2B5EF4-FFF2-40B4-BE49-F238E27FC236}">
                <a16:creationId xmlns:a16="http://schemas.microsoft.com/office/drawing/2014/main" id="{29216C0C-5FEF-474F-B3AD-C9FE0A4D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Проверяемые экспериментальные</a:t>
            </a:r>
          </a:p>
          <a:p xmlns:a="http://schemas.openxmlformats.org/drawingml/2006/main">
            <a:pPr>
              <a:defRPr sz="39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данные из научной литературы</a:t>
            </a:r>
          </a:p>
        </p:txBody>
      </p:sp>
      <p:sp>
        <p:nvSpPr>
          <p:cNvPr id="3" name="Локальная система для химика и иссле">
            <a:extLst xmlns:a="http://schemas.openxmlformats.org/drawingml/2006/main">
              <a:ext uri="{FF2B5EF4-FFF2-40B4-BE49-F238E27FC236}">
                <a16:creationId xmlns:a16="http://schemas.microsoft.com/office/drawing/2014/main" id="{E05F72E0-76B1-46CA-AF2E-EDE3732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Локальная система для химика и исследовательской группы</a:t>
            </a:r>
          </a:p>
        </p:txBody>
      </p:sp>
      <p:sp>
        <p:nvSpPr>
          <p:cNvPr id="4" name="Концепция v1.1 · 6 октября 2026 года">
            <a:extLst xmlns:a="http://schemas.openxmlformats.org/drawingml/2006/main">
              <a:ext uri="{FF2B5EF4-FFF2-40B4-BE49-F238E27FC236}">
                <a16:creationId xmlns:a16="http://schemas.microsoft.com/office/drawing/2014/main" id="{E10E4F2F-217A-4DAA-9AC4-10BD2AA0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Концепция v1.1 · 6 октября 2026 года</a:t>
            </a:r>
          </a:p>
        </p:txBody>
      </p:sp>
    </p:spTree>
    <p:extLst>
      <p:ext uri="{BB962C8B-B14F-4D97-AF65-F5344CB8AC3E}">
        <p14:creationId xmlns:p14="http://schemas.microsoft.com/office/powerpoint/2010/main" val="205321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Ошибки при сравнении материалов">
            <a:extLst xmlns:a="http://schemas.openxmlformats.org/drawingml/2006/main">
              <a:ext uri="{FF2B5EF4-FFF2-40B4-BE49-F238E27FC236}">
                <a16:creationId xmlns:a16="http://schemas.microsoft.com/office/drawing/2014/main" id="{A6270214-A534-4912-A2BA-83579F97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Ошибки при сравнении материалов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88F14838-6EDF-4B89-89E5-866850B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CB7E645A-157B-45E5-A870-80CC954C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Правильно распознанное число может&#10;о">
            <a:extLst xmlns:a="http://schemas.openxmlformats.org/drawingml/2006/main">
              <a:ext uri="{FF2B5EF4-FFF2-40B4-BE49-F238E27FC236}">
                <a16:creationId xmlns:a16="http://schemas.microsoft.com/office/drawing/2014/main" id="{32F66221-C001-4CBF-BC75-A4558605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Правильно распознанное число может</a:t>
            </a:r>
          </a:p>
          <a:p xmlns:a="http://schemas.openxmlformats.org/drawingml/2006/main">
            <a:pPr>
              <a:defRPr sz="285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относиться к другому эксперименту</a:t>
            </a:r>
          </a:p>
        </p:txBody>
      </p:sp>
      <p:sp>
        <p:nvSpPr>
          <p:cNvPr id="5" name="Образец">
            <a:extLst xmlns:a="http://schemas.openxmlformats.org/drawingml/2006/main">
              <a:ext uri="{FF2B5EF4-FFF2-40B4-BE49-F238E27FC236}">
                <a16:creationId xmlns:a16="http://schemas.microsoft.com/office/drawing/2014/main" id="{488DB950-814C-4E5A-97AB-45E9585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Образец</a:t>
            </a:r>
          </a:p>
        </p:txBody>
      </p:sp>
      <p:sp>
        <p:nvSpPr>
          <p:cNvPr id="6" name="Значение связано с другой мембраной ">
            <a:extLst xmlns:a="http://schemas.openxmlformats.org/drawingml/2006/main">
              <a:ext uri="{FF2B5EF4-FFF2-40B4-BE49-F238E27FC236}">
                <a16:creationId xmlns:a16="http://schemas.microsoft.com/office/drawing/2014/main" id="{9C14C169-73A4-44F0-B4B1-3426851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Значение связано с другой мембраной или составом.</a:t>
            </a:r>
          </a:p>
        </p:txBody>
      </p:sp>
      <p:sp>
        <p:nvSpPr>
          <p:cNvPr id="7" name="Условия">
            <a:extLst xmlns:a="http://schemas.openxmlformats.org/drawingml/2006/main">
              <a:ext uri="{FF2B5EF4-FFF2-40B4-BE49-F238E27FC236}">
                <a16:creationId xmlns:a16="http://schemas.microsoft.com/office/drawing/2014/main" id="{0D90D65F-4A8A-4995-87EF-F14B3C0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Условия</a:t>
            </a:r>
          </a:p>
        </p:txBody>
      </p:sp>
      <p:sp>
        <p:nvSpPr>
          <p:cNvPr id="8" name="Температура, влажность или среда пер">
            <a:extLst xmlns:a="http://schemas.openxmlformats.org/drawingml/2006/main">
              <a:ext uri="{FF2B5EF4-FFF2-40B4-BE49-F238E27FC236}">
                <a16:creationId xmlns:a16="http://schemas.microsoft.com/office/drawing/2014/main" id="{5561D2FA-D38C-4CF3-AAAB-03D318BB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57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Температура, влажность или среда перенесены из соседнего случая.</a:t>
            </a:r>
          </a:p>
        </p:txBody>
      </p:sp>
      <p:sp>
        <p:nvSpPr>
          <p:cNvPr id="9" name="Происхождение">
            <a:extLst xmlns:a="http://schemas.openxmlformats.org/drawingml/2006/main">
              <a:ext uri="{FF2B5EF4-FFF2-40B4-BE49-F238E27FC236}">
                <a16:creationId xmlns:a16="http://schemas.microsoft.com/office/drawing/2014/main" id="{66B05E5F-71CD-4E59-B761-C145EF1A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Происхождение</a:t>
            </a:r>
          </a:p>
        </p:txBody>
      </p:sp>
      <p:sp>
        <p:nvSpPr>
          <p:cNvPr id="10" name="Расчётное значение принято за экспер">
            <a:extLst xmlns:a="http://schemas.openxmlformats.org/drawingml/2006/main">
              <a:ext uri="{FF2B5EF4-FFF2-40B4-BE49-F238E27FC236}">
                <a16:creationId xmlns:a16="http://schemas.microsoft.com/office/drawing/2014/main" id="{0FC3D159-D56B-4ADD-A41B-B5F4D67C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9107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Расчётное значение принято за экспериментальное.</a:t>
            </a:r>
          </a:p>
        </p:txBody>
      </p:sp>
      <p:sp>
        <p:nvSpPr>
          <p:cNvPr id="11" name="Задача ARIADNE — сохранить связи и п">
            <a:extLst xmlns:a="http://schemas.openxmlformats.org/drawingml/2006/main">
              <a:ext uri="{FF2B5EF4-FFF2-40B4-BE49-F238E27FC236}">
                <a16:creationId xmlns:a16="http://schemas.microsoft.com/office/drawing/2014/main" id="{3831F384-32BD-4021-93AA-AD9DA4FB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Задача ARIADNE — сохранить связи и показать подтверждающий источник.</a:t>
            </a:r>
          </a:p>
        </p:txBody>
      </p:sp>
    </p:spTree>
    <p:extLst>
      <p:ext uri="{BB962C8B-B14F-4D97-AF65-F5344CB8AC3E}">
        <p14:creationId xmlns:p14="http://schemas.microsoft.com/office/powerpoint/2010/main" val="782003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cientific Record">
            <a:extLst xmlns:a="http://schemas.openxmlformats.org/drawingml/2006/main">
              <a:ext uri="{FF2B5EF4-FFF2-40B4-BE49-F238E27FC236}">
                <a16:creationId xmlns:a16="http://schemas.microsoft.com/office/drawing/2014/main" id="{FF0BCBD8-107D-4066-A121-6C1535D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Scientific Record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C3BA6D8D-E9F2-44D3-9F07-AD168A31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1A35E0A7-5848-465B-A077-92457E70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Одна запись — одно свойство образца&#10;">
            <a:extLst xmlns:a="http://schemas.openxmlformats.org/drawingml/2006/main">
              <a:ext uri="{FF2B5EF4-FFF2-40B4-BE49-F238E27FC236}">
                <a16:creationId xmlns:a16="http://schemas.microsoft.com/office/drawing/2014/main" id="{C4DBFA65-1AA7-4DBC-9010-33D6D0F9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Одна запись — одно свойство образца</a:t>
            </a:r>
          </a:p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при определённых условиях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сохраняем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проверяем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Образец, свойство, величина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Явная связь в тексте или строке таблицы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Единица, условия, происхождение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Источник каждого извлечённого поля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Исходное значение и преобразование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Правило нормализации и история изменений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Решение химика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Подтверждение, исправление или отклонение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6" name="Целевой формат. Полная связанная зап">
            <a:extLst xmlns:a="http://schemas.openxmlformats.org/drawingml/2006/main">
              <a:ext uri="{FF2B5EF4-FFF2-40B4-BE49-F238E27FC236}">
                <a16:creationId xmlns:a16="http://schemas.microsoft.com/office/drawing/2014/main" id="{0AAD2A29-3EA5-4AC5-9F8C-983DC434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Целевой формат. Полная связанная запись ещё не реализована и не принята научно.</a:t>
            </a:r>
          </a:p>
        </p:txBody>
      </p:sp>
    </p:spTree>
    <p:extLst>
      <p:ext uri="{BB962C8B-B14F-4D97-AF65-F5344CB8AC3E}">
        <p14:creationId xmlns:p14="http://schemas.microsoft.com/office/powerpoint/2010/main" val="1534528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Текущий задел ARIADNE">
            <a:extLst xmlns:a="http://schemas.openxmlformats.org/drawingml/2006/main">
              <a:ext uri="{FF2B5EF4-FFF2-40B4-BE49-F238E27FC236}">
                <a16:creationId xmlns:a16="http://schemas.microsoft.com/office/drawing/2014/main" id="{1BB0C787-FF7C-4FB4-B0EE-D3C6C5EA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Текущий задел ARIADNE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F28BF887-720B-462F-A656-FF816C86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248795A2-4E4E-4AD5-8293-BE3CC7EF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33">
            <a:extLst xmlns:a="http://schemas.openxmlformats.org/drawingml/2006/main">
              <a:ext uri="{FF2B5EF4-FFF2-40B4-BE49-F238E27FC236}">
                <a16:creationId xmlns:a16="http://schemas.microsoft.com/office/drawing/2014/main" id="{082FEFAF-7958-40B8-AAB4-B3C21544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95B4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95B47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статьи в корпусе">
            <a:extLst xmlns:a="http://schemas.openxmlformats.org/drawingml/2006/main">
              <a:ext uri="{FF2B5EF4-FFF2-40B4-BE49-F238E27FC236}">
                <a16:creationId xmlns:a16="http://schemas.microsoft.com/office/drawing/2014/main" id="{3011939C-A655-4B75-8AF9-598D9E79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статьи в корпусе</a:t>
            </a:r>
          </a:p>
        </p:txBody>
      </p:sp>
      <p:sp>
        <p:nvSpPr>
          <p:cNvPr id="6" name="595">
            <a:extLst xmlns:a="http://schemas.openxmlformats.org/drawingml/2006/main">
              <a:ext uri="{FF2B5EF4-FFF2-40B4-BE49-F238E27FC236}">
                <a16:creationId xmlns:a16="http://schemas.microsoft.com/office/drawing/2014/main" id="{6900DFA3-3524-4B32-9F8D-E8B282D9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859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95B4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95B47"/>
                </a:solidFill>
                <a:latin typeface="Arial"/>
                <a:ea typeface="Arial"/>
                <a:cs typeface="Arial"/>
              </a:rPr>
              <a:t>595</a:t>
            </a:r>
          </a:p>
        </p:txBody>
      </p:sp>
      <p:sp>
        <p:nvSpPr>
          <p:cNvPr id="7" name="программных тестов прошли">
            <a:extLst xmlns:a="http://schemas.openxmlformats.org/drawingml/2006/main">
              <a:ext uri="{FF2B5EF4-FFF2-40B4-BE49-F238E27FC236}">
                <a16:creationId xmlns:a16="http://schemas.microsoft.com/office/drawing/2014/main" id="{3E5E9FD4-4F8B-4DC9-A461-53813EE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813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программных тестов прошли</a:t>
            </a:r>
          </a:p>
        </p:txBody>
      </p:sp>
      <p:sp>
        <p:nvSpPr>
          <p:cNvPr id="8" name="46/46">
            <a:extLst xmlns:a="http://schemas.openxmlformats.org/drawingml/2006/main">
              <a:ext uri="{FF2B5EF4-FFF2-40B4-BE49-F238E27FC236}">
                <a16:creationId xmlns:a16="http://schemas.microsoft.com/office/drawing/2014/main" id="{C9B33366-BE45-4F7C-BBE5-571AB50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859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95B4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95B47"/>
                </a:solidFill>
                <a:latin typeface="Arial"/>
                <a:ea typeface="Arial"/>
                <a:cs typeface="Arial"/>
              </a:rPr>
              <a:t>46/46</a:t>
            </a:r>
          </a:p>
        </p:txBody>
      </p:sp>
      <p:sp>
        <p:nvSpPr>
          <p:cNvPr id="9" name="retrieval-проверок прошли">
            <a:extLst xmlns:a="http://schemas.openxmlformats.org/drawingml/2006/main">
              <a:ext uri="{FF2B5EF4-FFF2-40B4-BE49-F238E27FC236}">
                <a16:creationId xmlns:a16="http://schemas.microsoft.com/office/drawing/2014/main" id="{4D900159-0317-4CCB-AAB4-5A336927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813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retrieval-проверок прошли</a:t>
            </a:r>
          </a:p>
        </p:txBody>
      </p:sp>
      <p:sp>
        <p:nvSpPr>
          <p:cNvPr id="10" name="Есть ingestion/OCR, PostgreSQL, hybr">
            <a:extLst xmlns:a="http://schemas.openxmlformats.org/drawingml/2006/main">
              <a:ext uri="{FF2B5EF4-FFF2-40B4-BE49-F238E27FC236}">
                <a16:creationId xmlns:a16="http://schemas.microsoft.com/office/drawing/2014/main" id="{B3B25D10-273A-47CE-B3A5-CD2B11B4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Есть ingestion/OCR, PostgreSQL, hybrid search,</a:t>
            </a:r>
          </a:p>
          <a:p xmlns:a="http://schemas.openxmlformats.org/drawingml/2006/main">
            <a:pPr>
              <a:defRPr sz="24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provenance, численные кандидаты и review-задел.</a:t>
            </a:r>
          </a:p>
        </p:txBody>
      </p:sp>
      <p:sp>
        <p:nvSpPr>
          <p:cNvPr id="11" name="Исторические инженерные результаты. ">
            <a:extLst xmlns:a="http://schemas.openxmlformats.org/drawingml/2006/main">
              <a:ext uri="{FF2B5EF4-FFF2-40B4-BE49-F238E27FC236}">
                <a16:creationId xmlns:a16="http://schemas.microsoft.com/office/drawing/2014/main" id="{876D9863-4E44-4885-B04F-54321B39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Исторические инженерные результаты. Научное качество полной записи не доказано.</a:t>
            </a:r>
          </a:p>
        </p:txBody>
      </p:sp>
    </p:spTree>
    <p:extLst>
      <p:ext uri="{BB962C8B-B14F-4D97-AF65-F5344CB8AC3E}">
        <p14:creationId xmlns:p14="http://schemas.microsoft.com/office/powerpoint/2010/main" val="1881987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Научная гипотеза и эксперимент">
            <a:extLst xmlns:a="http://schemas.openxmlformats.org/drawingml/2006/main">
              <a:ext uri="{FF2B5EF4-FFF2-40B4-BE49-F238E27FC236}">
                <a16:creationId xmlns:a16="http://schemas.microsoft.com/office/drawing/2014/main" id="{BA578530-6D81-43C6-9C9E-9A54B144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Научная гипотеза и эксперимент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E68C625A-FEDB-47C2-A658-4D5F276A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843F6389-24D6-4A00-AEFA-A8154E23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Проверки связей должны уменьшить оши">
            <a:extLst xmlns:a="http://schemas.openxmlformats.org/drawingml/2006/main">
              <a:ext uri="{FF2B5EF4-FFF2-40B4-BE49-F238E27FC236}">
                <a16:creationId xmlns:a16="http://schemas.microsoft.com/office/drawing/2014/main" id="{10BD70F9-0792-45D1-B495-7BCB7684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Проверки связей должны уменьшить ошибки</a:t>
            </a:r>
          </a:p>
          <a:p xmlns:a="http://schemas.openxmlformats.org/drawingml/2006/main">
            <a:pPr>
              <a:defRPr sz="26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и трудоёмкость работы химика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781300"/>
          <a:ext xmlns:a="http://schemas.openxmlformats.org/drawingml/2006/main" cx="109728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5448300"/>
              </a:tblGrid>
              <a:tr h="6762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Режим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B: фиксированная локальная LLM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Базовое извлечение полной записи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C: та же LLM + проверки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Измерение вклада checks и отказов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D: C + review химиком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итоговой таблицы и полное время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Гипотеза не проверена. Порог допуска">
            <a:extLst xmlns:a="http://schemas.openxmlformats.org/drawingml/2006/main">
              <a:ext uri="{FF2B5EF4-FFF2-40B4-BE49-F238E27FC236}">
                <a16:creationId xmlns:a16="http://schemas.microsoft.com/office/drawing/2014/main" id="{88B2DB4C-C4D4-4464-8E60-426019D3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Гипотеза не проверена. Порог допуска выбирается на validation и замораживается.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269520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Границы проекта на первый год">
            <a:extLst xmlns:a="http://schemas.openxmlformats.org/drawingml/2006/main">
              <a:ext uri="{FF2B5EF4-FFF2-40B4-BE49-F238E27FC236}">
                <a16:creationId xmlns:a16="http://schemas.microsoft.com/office/drawing/2014/main" id="{93458019-743B-4CE7-A0DE-B6A0A577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Границы проекта на первый год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ED9CBD60-F315-4C84-94D6-F157C555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6EC7DA95-A802-4D57-B0C8-2654AAAF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Уровень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Содержание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Обязательное ядро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Один сценарий проводимости; текст и простые таблицы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Минимальный продукт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Review, экспорт, локальная установка и восстановление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После приёмки ядра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Второй домен, графики, дополнительные модели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Следующий этап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Серийный ARIADNE Box, роли и интеграции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PFSA/Nafion — первый домен проверки.">
            <a:extLst xmlns:a="http://schemas.openxmlformats.org/drawingml/2006/main">
              <a:ext uri="{FF2B5EF4-FFF2-40B4-BE49-F238E27FC236}">
                <a16:creationId xmlns:a16="http://schemas.microsoft.com/office/drawing/2014/main" id="{E9254E02-9397-40C6-86F4-1A2E9D4B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PFSA/Nafion — первый домен проверки. Протонный или литий-ионный сценарий ещё выбирается.</a:t>
            </a:r>
          </a:p>
        </p:txBody>
      </p:sp>
    </p:spTree>
    <p:extLst>
      <p:ext uri="{BB962C8B-B14F-4D97-AF65-F5344CB8AC3E}">
        <p14:creationId xmlns:p14="http://schemas.microsoft.com/office/powerpoint/2010/main" val="1799438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граниченные проверки и решение эксп">
            <a:extLst xmlns:a="http://schemas.openxmlformats.org/drawingml/2006/main">
              <a:ext uri="{FF2B5EF4-FFF2-40B4-BE49-F238E27FC236}">
                <a16:creationId xmlns:a16="http://schemas.microsoft.com/office/drawing/2014/main" id="{803D9BCB-6AA8-461A-968C-C5273BE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Ограниченные проверки и решение эксперта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900038E9-CA15-45D6-B127-964B1132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7C97B8E1-418B-4401-AF62-28F3961D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Автоматические проверки">
            <a:extLst xmlns:a="http://schemas.openxmlformats.org/drawingml/2006/main">
              <a:ext uri="{FF2B5EF4-FFF2-40B4-BE49-F238E27FC236}">
                <a16:creationId xmlns:a16="http://schemas.microsoft.com/office/drawing/2014/main" id="{AFE6C8D0-5A99-4097-815C-2E41F774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Автоматические проверки</a:t>
            </a:r>
          </a:p>
        </p:txBody>
      </p:sp>
      <p:sp>
        <p:nvSpPr>
          <p:cNvPr id="5" name="Образец ↔ значение&#10;Условия ↔ конкрет">
            <a:extLst xmlns:a="http://schemas.openxmlformats.org/drawingml/2006/main">
              <a:ext uri="{FF2B5EF4-FFF2-40B4-BE49-F238E27FC236}">
                <a16:creationId xmlns:a16="http://schemas.microsoft.com/office/drawing/2014/main" id="{AF152D89-4034-4F20-9E54-BCDB4888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0006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Образец ↔ значение</a:t>
            </a:r>
          </a:p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Условия ↔ конкретная запись</a:t>
            </a:r>
          </a:p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Единица и оператор</a:t>
            </a:r>
          </a:p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Происхождение результата</a:t>
            </a:r>
          </a:p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Доказательства полей</a:t>
            </a:r>
          </a:p>
        </p:txBody>
      </p:sp>
      <p:sp>
        <p:nvSpPr>
          <p:cNvPr id="6" name="Правило допуска">
            <a:extLst xmlns:a="http://schemas.openxmlformats.org/drawingml/2006/main">
              <a:ext uri="{FF2B5EF4-FFF2-40B4-BE49-F238E27FC236}">
                <a16:creationId xmlns:a16="http://schemas.microsoft.com/office/drawing/2014/main" id="{07AC1F91-D83F-43AE-9D33-034DC99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2877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Правило допуска</a:t>
            </a:r>
          </a:p>
        </p:txBody>
      </p:sp>
      <p:sp>
        <p:nvSpPr>
          <p:cNvPr id="7" name="Недостаточно evidence&#10;или связь неод">
            <a:extLst xmlns:a="http://schemas.openxmlformats.org/drawingml/2006/main">
              <a:ext uri="{FF2B5EF4-FFF2-40B4-BE49-F238E27FC236}">
                <a16:creationId xmlns:a16="http://schemas.microsoft.com/office/drawing/2014/main" id="{497BA0AA-2C07-4476-87CB-9CF0C5BE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Недостаточно evidence</a:t>
            </a:r>
          </a:p>
          <a:p xmlns:a="http://schemas.openxmlformats.org/drawingml/2006/main">
            <a:pPr>
              <a:defRPr sz="23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или связь неоднозначна:</a:t>
            </a:r>
          </a:p>
          <a:p xmlns:a="http://schemas.openxmlformats.org/drawingml/2006/main">
            <a:pPr>
              <a:defRPr sz="23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нужна проверка химиком.</a:t>
            </a:r>
          </a:p>
        </p:txBody>
      </p:sp>
      <p:sp>
        <p:nvSpPr>
          <p:cNvPr id="8" name="Прохождение checks&#10;не равно подтверж">
            <a:extLst xmlns:a="http://schemas.openxmlformats.org/drawingml/2006/main">
              <a:ext uri="{FF2B5EF4-FFF2-40B4-BE49-F238E27FC236}">
                <a16:creationId xmlns:a16="http://schemas.microsoft.com/office/drawing/2014/main" id="{348F026C-DCE3-412A-B65B-4DD41E0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9575"/>
            <a:ext cx="5143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Прохождение checks</a:t>
            </a:r>
          </a:p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не равно подтверждению</a:t>
            </a:r>
          </a:p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экспертом.</a:t>
            </a:r>
          </a:p>
        </p:txBody>
      </p:sp>
      <p:sp>
        <p:nvSpPr>
          <p:cNvPr id="9" name="Универсальная проверка научной истин">
            <a:extLst xmlns:a="http://schemas.openxmlformats.org/drawingml/2006/main">
              <a:ext uri="{FF2B5EF4-FFF2-40B4-BE49-F238E27FC236}">
                <a16:creationId xmlns:a16="http://schemas.microsoft.com/office/drawing/2014/main" id="{BB8C2E64-4327-450E-802D-A12C5FF6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Универсальная проверка научной истинности в проекте не обещается.</a:t>
            </a:r>
          </a:p>
        </p:txBody>
      </p:sp>
    </p:spTree>
    <p:extLst>
      <p:ext uri="{BB962C8B-B14F-4D97-AF65-F5344CB8AC3E}">
        <p14:creationId xmlns:p14="http://schemas.microsoft.com/office/powerpoint/2010/main" val="2095407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абочие цели качества">
            <a:extLst xmlns:a="http://schemas.openxmlformats.org/drawingml/2006/main">
              <a:ext uri="{FF2B5EF4-FFF2-40B4-BE49-F238E27FC236}">
                <a16:creationId xmlns:a16="http://schemas.microsoft.com/office/drawing/2014/main" id="{470604F9-3FF4-4B15-B023-4726D116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Рабочие цели качества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E638AD66-A512-49D5-9DEA-22F24874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853D4E8D-C265-4569-879F-481B8EA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1762125"/>
                <a:gridCol w="482917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Цель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измеряем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Precision полной записи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≥90%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Допущенные записи до правок химика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Recall полной записи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≥60%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Все подходящие gold-записи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Provenance допущенных полей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Проверяемое evidence и связи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Корректный отказ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≥85%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Отрицательные и неоднозначные случаи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Экономия времени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≥30%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Полное время проверенной таблицы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Предложенные цели, не достигнутые по">
            <a:extLst xmlns:a="http://schemas.openxmlformats.org/drawingml/2006/main">
              <a:ext uri="{FF2B5EF4-FFF2-40B4-BE49-F238E27FC236}">
                <a16:creationId xmlns:a16="http://schemas.microsoft.com/office/drawing/2014/main" id="{B953BF48-0B37-4146-8EBB-D6513B0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Предложенные цели, не достигнутые показатели. Считать также coverage и ложные отказы.</a:t>
            </a:r>
          </a:p>
        </p:txBody>
      </p:sp>
    </p:spTree>
    <p:extLst>
      <p:ext uri="{BB962C8B-B14F-4D97-AF65-F5344CB8AC3E}">
        <p14:creationId xmlns:p14="http://schemas.microsoft.com/office/powerpoint/2010/main" val="1015686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Эталон и независимая оценка">
            <a:extLst xmlns:a="http://schemas.openxmlformats.org/drawingml/2006/main">
              <a:ext uri="{FF2B5EF4-FFF2-40B4-BE49-F238E27FC236}">
                <a16:creationId xmlns:a16="http://schemas.microsoft.com/office/drawing/2014/main" id="{5AFB792D-5015-4BEF-B82D-252BF50F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Эталон и независимая оценка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918CE73C-BDB0-47BB-A7F4-4F5B2E4C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02E16BBC-0AF6-4EB7-A4A4-D56275C1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60 публикаций в gold">
            <a:extLst xmlns:a="http://schemas.openxmlformats.org/drawingml/2006/main">
              <a:ext uri="{FF2B5EF4-FFF2-40B4-BE49-F238E27FC236}">
                <a16:creationId xmlns:a16="http://schemas.microsoft.com/office/drawing/2014/main" id="{BE9CBB5B-8A46-4ED7-82FB-46F62B7F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60 публикаций в gold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76250" y="2476500"/>
          <a:ext xmlns:a="http://schemas.openxmlformats.org/drawingml/2006/main" cx="6762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abc15217534c0d"/>
          </a:graphicData>
        </a:graphic>
      </p:graphicFrame>
      <p:sp>
        <p:nvSpPr>
          <p:cNvPr id="6" name="Test не используется&#10;для настройки">
            <a:extLst xmlns:a="http://schemas.openxmlformats.org/drawingml/2006/main">
              <a:ext uri="{FF2B5EF4-FFF2-40B4-BE49-F238E27FC236}">
                <a16:creationId xmlns:a16="http://schemas.microsoft.com/office/drawing/2014/main" id="{15EE42B6-B982-4D2F-999F-CFD346DA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3619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Test не используется</a:t>
            </a:r>
          </a:p>
          <a:p xmlns:a="http://schemas.openxmlformats.org/drawingml/2006/main">
            <a:pPr>
              <a:defRPr sz="24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для настройки</a:t>
            </a:r>
          </a:p>
        </p:txBody>
      </p:sp>
      <p:sp>
        <p:nvSpPr>
          <p:cNvPr id="7" name="Напарник независимо&#10;размечает весь t">
            <a:extLst xmlns:a="http://schemas.openxmlformats.org/drawingml/2006/main">
              <a:ext uri="{FF2B5EF4-FFF2-40B4-BE49-F238E27FC236}">
                <a16:creationId xmlns:a16="http://schemas.microsoft.com/office/drawing/2014/main" id="{5CDBC669-A2D8-4BD2-8491-239CD4C9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05200"/>
            <a:ext cx="3619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Напарник независимо</a:t>
            </a:r>
          </a:p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размечает весь test.</a:t>
            </a:r>
          </a:p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Плотность записей</a:t>
            </a:r>
          </a:p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сначала измеряется</a:t>
            </a:r>
          </a:p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на 10–15 статьях.</a:t>
            </a:r>
          </a:p>
        </p:txBody>
      </p:sp>
      <p:sp>
        <p:nvSpPr>
          <p:cNvPr id="8" name="План разметки. Рабочий корпус — окол">
            <a:extLst xmlns:a="http://schemas.openxmlformats.org/drawingml/2006/main">
              <a:ext uri="{FF2B5EF4-FFF2-40B4-BE49-F238E27FC236}">
                <a16:creationId xmlns:a16="http://schemas.microsoft.com/office/drawing/2014/main" id="{718086E3-C015-4ADD-A610-0904E72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План разметки. Рабочий корпус — около 120 публикаций; реальная трудоёмкость ещё оценивается.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2463840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ервый продукт и 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5D950F3D-18E7-4C27-8C93-B35A26F6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Первый продукт и пользователь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5CDA382E-641B-4986-8778-83B3FDB9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624768FE-F52D-4B0C-972F-408DBBDA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Проверяемая сравнительная таблица&#10;дл">
            <a:extLst xmlns:a="http://schemas.openxmlformats.org/drawingml/2006/main">
              <a:ext uri="{FF2B5EF4-FFF2-40B4-BE49-F238E27FC236}">
                <a16:creationId xmlns:a16="http://schemas.microsoft.com/office/drawing/2014/main" id="{61E5EC0E-0AB2-4522-A533-EF591B03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Проверяемая сравнительная таблица</a:t>
            </a:r>
          </a:p>
          <a:p xmlns:a="http://schemas.openxmlformats.org/drawingml/2006/main">
            <a:pPr>
              <a:defRPr sz="277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для лаборатории мембран и электролитов</a:t>
            </a:r>
          </a:p>
        </p:txBody>
      </p:sp>
      <p:sp>
        <p:nvSpPr>
          <p:cNvPr id="5" name="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DC89A9C1-E55D-4CF0-8476-9BF2E57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6" name="Химик, регулярно сравнивающий свойст">
            <a:extLst xmlns:a="http://schemas.openxmlformats.org/drawingml/2006/main">
              <a:ext uri="{FF2B5EF4-FFF2-40B4-BE49-F238E27FC236}">
                <a16:creationId xmlns:a16="http://schemas.microsoft.com/office/drawing/2014/main" id="{0B452C77-F8D0-4721-8C46-DAA498C5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Химик, регулярно сравнивающий свойства по публикациям.</a:t>
            </a:r>
          </a:p>
        </p:txBody>
      </p:sp>
      <p:sp>
        <p:nvSpPr>
          <p:cNvPr id="7" name="Поставка года">
            <a:extLst xmlns:a="http://schemas.openxmlformats.org/drawingml/2006/main">
              <a:ext uri="{FF2B5EF4-FFF2-40B4-BE49-F238E27FC236}">
                <a16:creationId xmlns:a16="http://schemas.microsoft.com/office/drawing/2014/main" id="{11D7EDDC-1C85-41CA-8707-E4FFAA98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Поставка года</a:t>
            </a:r>
          </a:p>
        </p:txBody>
      </p:sp>
      <p:sp>
        <p:nvSpPr>
          <p:cNvPr id="8" name="Локальный клиент, выбранная модель, ">
            <a:extLst xmlns:a="http://schemas.openxmlformats.org/drawingml/2006/main">
              <a:ext uri="{FF2B5EF4-FFF2-40B4-BE49-F238E27FC236}">
                <a16:creationId xmlns:a16="http://schemas.microsoft.com/office/drawing/2014/main" id="{2069BFF4-9182-4285-B7B7-863DE2DE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Локальный клиент, выбранная модель, review и CSV/JSON.</a:t>
            </a:r>
          </a:p>
        </p:txBody>
      </p:sp>
      <p:sp>
        <p:nvSpPr>
          <p:cNvPr id="9" name="Пилот">
            <a:extLst xmlns:a="http://schemas.openxmlformats.org/drawingml/2006/main">
              <a:ext uri="{FF2B5EF4-FFF2-40B4-BE49-F238E27FC236}">
                <a16:creationId xmlns:a16="http://schemas.microsoft.com/office/drawing/2014/main" id="{9B07AC43-D0C3-474B-9C5F-0A982C80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Пилот</a:t>
            </a:r>
          </a:p>
        </p:txBody>
      </p:sp>
      <p:sp>
        <p:nvSpPr>
          <p:cNvPr id="10" name="Реальная задача, ручной baseline и и">
            <a:extLst xmlns:a="http://schemas.openxmlformats.org/drawingml/2006/main">
              <a:ext uri="{FF2B5EF4-FFF2-40B4-BE49-F238E27FC236}">
                <a16:creationId xmlns:a16="http://schemas.microsoft.com/office/drawing/2014/main" id="{6CF8648B-CA51-4163-A443-C8D86064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Реальная задача, ручной baseline и измеренный эффект.</a:t>
            </a:r>
          </a:p>
        </p:txBody>
      </p:sp>
      <p:sp>
        <p:nvSpPr>
          <p:cNvPr id="11" name="Спрос не подтверждён: предложены 6–8">
            <a:extLst xmlns:a="http://schemas.openxmlformats.org/drawingml/2006/main">
              <a:ext uri="{FF2B5EF4-FFF2-40B4-BE49-F238E27FC236}">
                <a16:creationId xmlns:a16="http://schemas.microsoft.com/office/drawing/2014/main" id="{ACBCEA56-828D-46E2-9F75-98D045D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Спрос не подтверждён: предложены 6–8 интервью и один согласованный пилот.</a:t>
            </a:r>
          </a:p>
        </p:txBody>
      </p:sp>
    </p:spTree>
    <p:extLst>
      <p:ext uri="{BB962C8B-B14F-4D97-AF65-F5344CB8AC3E}">
        <p14:creationId xmlns:p14="http://schemas.microsoft.com/office/powerpoint/2010/main" val="1822511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абочая станция и ARIADNE Box">
            <a:extLst xmlns:a="http://schemas.openxmlformats.org/drawingml/2006/main">
              <a:ext uri="{FF2B5EF4-FFF2-40B4-BE49-F238E27FC236}">
                <a16:creationId xmlns:a16="http://schemas.microsoft.com/office/drawing/2014/main" id="{84B4B6CE-27FC-41B3-9135-8AC32B20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Рабочая станция и ARIADNE Box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F023E35E-017D-4662-A7DE-1AD4139F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42833CEA-0168-4F6B-A78A-BE99478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Конфигурацию определяет benchmark.&#10;П">
            <a:extLst xmlns:a="http://schemas.openxmlformats.org/drawingml/2006/main">
              <a:ext uri="{FF2B5EF4-FFF2-40B4-BE49-F238E27FC236}">
                <a16:creationId xmlns:a16="http://schemas.microsoft.com/office/drawing/2014/main" id="{7A409C7D-850D-485D-A060-3A546E6F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Конфигурацию определяет benchmark.</a:t>
            </a:r>
          </a:p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Потолок со сборкой и доставкой — 1 млн ₽.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819400"/>
          <a:ext xmlns:a="http://schemas.openxmlformats.org/drawingml/2006/main" cx="109728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477250"/>
                <a:gridCol w="2495550"/>
              </a:tblGrid>
              <a:tr h="485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Плановый предел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тыс. ₽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Две GPU по 24 ГБ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560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CPU, плата, 128 ГБ RAM и БП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285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SSD, корпус, охлаждение, сборка, доставка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Резерв внутри миллиона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Закупочные потолки. ИБП и внешнее ba">
            <a:extLst xmlns:a="http://schemas.openxmlformats.org/drawingml/2006/main">
              <a:ext uri="{FF2B5EF4-FFF2-40B4-BE49-F238E27FC236}">
                <a16:creationId xmlns:a16="http://schemas.microsoft.com/office/drawing/2014/main" id="{03F65952-C128-4547-89D0-AEBF85E1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Закупочные потолки. ИБП и внешнее backup отдельно. Серийный Box — после пилота.</a:t>
            </a:r>
          </a:p>
        </p:txBody>
      </p:sp>
    </p:spTree>
    <p:extLst>
      <p:ext uri="{BB962C8B-B14F-4D97-AF65-F5344CB8AC3E}">
        <p14:creationId xmlns:p14="http://schemas.microsoft.com/office/powerpoint/2010/main" val="2066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Дорожная карта на 12 месяцев">
            <a:extLst xmlns:a="http://schemas.openxmlformats.org/drawingml/2006/main">
              <a:ext uri="{FF2B5EF4-FFF2-40B4-BE49-F238E27FC236}">
                <a16:creationId xmlns:a16="http://schemas.microsoft.com/office/drawing/2014/main" id="{925794D6-F24E-411B-8E2E-68C5C14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Дорожная карта на 12 месяцев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079B3D37-45A0-4DE8-A79C-C8BB3987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7601C059-4AB7-46BC-9B61-65BBA172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1–2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Схема, pilot-gold, baseline, текстовый extractor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3–4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Связанная запись, evidence, review и экспорт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5–6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Простые таблицы и ограниченные checks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7–8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Gold, validation, backup/restore и установка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9–10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Пилот, время химика, заморозка конфигурации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11–12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Untouched test, offline-приёмка и комплект поставки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Если review не экономит время — пере">
            <a:extLst xmlns:a="http://schemas.openxmlformats.org/drawingml/2006/main">
              <a:ext uri="{FF2B5EF4-FFF2-40B4-BE49-F238E27FC236}">
                <a16:creationId xmlns:a16="http://schemas.microsoft.com/office/drawing/2014/main" id="{A9CA7BF0-A647-4C48-BC7C-75E54C1B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Если review не экономит время — переработать ядро и снять расширения.</a:t>
            </a:r>
          </a:p>
        </p:txBody>
      </p:sp>
    </p:spTree>
    <p:extLst>
      <p:ext uri="{BB962C8B-B14F-4D97-AF65-F5344CB8AC3E}">
        <p14:creationId xmlns:p14="http://schemas.microsoft.com/office/powerpoint/2010/main" val="19990902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Команда и реалистичный ресурс">
            <a:extLst xmlns:a="http://schemas.openxmlformats.org/drawingml/2006/main">
              <a:ext uri="{FF2B5EF4-FFF2-40B4-BE49-F238E27FC236}">
                <a16:creationId xmlns:a16="http://schemas.microsoft.com/office/drawing/2014/main" id="{02ABD0C4-F473-4ED3-B914-A6AA8FE7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Команда и реалистичный ресурс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311C2B5A-8705-4B3E-8337-24F4DF4A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A0122E33-6F84-40A2-A40F-8E75084D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Инициатор">
            <a:extLst xmlns:a="http://schemas.openxmlformats.org/drawingml/2006/main">
              <a:ext uri="{FF2B5EF4-FFF2-40B4-BE49-F238E27FC236}">
                <a16:creationId xmlns:a16="http://schemas.microsoft.com/office/drawing/2014/main" id="{61AD4A4F-1E46-43B8-92D1-442E165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Инициатор</a:t>
            </a:r>
          </a:p>
        </p:txBody>
      </p:sp>
      <p:sp>
        <p:nvSpPr>
          <p:cNvPr id="5" name="Химик; 20–30 ч/неделю; разработка с ">
            <a:extLst xmlns:a="http://schemas.openxmlformats.org/drawingml/2006/main">
              <a:ext uri="{FF2B5EF4-FFF2-40B4-BE49-F238E27FC236}">
                <a16:creationId xmlns:a16="http://schemas.microsoft.com/office/drawing/2014/main" id="{4464F2D3-83D7-4E4C-9E29-2E08345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Химик; 20–30 ч/неделю; разработка с Codex и приёмка задач.</a:t>
            </a:r>
          </a:p>
        </p:txBody>
      </p:sp>
      <p:sp>
        <p:nvSpPr>
          <p:cNvPr id="6" name="Напарник">
            <a:extLst xmlns:a="http://schemas.openxmlformats.org/drawingml/2006/main">
              <a:ext uri="{FF2B5EF4-FFF2-40B4-BE49-F238E27FC236}">
                <a16:creationId xmlns:a16="http://schemas.microsoft.com/office/drawing/2014/main" id="{0EED9FC4-60A2-4701-A0E3-CE92E53F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Напарник</a:t>
            </a:r>
          </a:p>
        </p:txBody>
      </p:sp>
      <p:sp>
        <p:nvSpPr>
          <p:cNvPr id="7" name="К.х.н.; независимая разметка и научн">
            <a:extLst xmlns:a="http://schemas.openxmlformats.org/drawingml/2006/main">
              <a:ext uri="{FF2B5EF4-FFF2-40B4-BE49-F238E27FC236}">
                <a16:creationId xmlns:a16="http://schemas.microsoft.com/office/drawing/2014/main" id="{2173BE57-9FA7-4F8C-9A89-11CCAB5A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К.х.н.; независимая разметка и научная оценка. Роль и часы согласуются.</a:t>
            </a:r>
          </a:p>
        </p:txBody>
      </p:sp>
      <p:sp>
        <p:nvSpPr>
          <p:cNvPr id="8" name="Инженер">
            <a:extLst xmlns:a="http://schemas.openxmlformats.org/drawingml/2006/main">
              <a:ext uri="{FF2B5EF4-FFF2-40B4-BE49-F238E27FC236}">
                <a16:creationId xmlns:a16="http://schemas.microsoft.com/office/drawing/2014/main" id="{AF9E7E49-0881-43AF-BBC4-62DCB2B5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Инженер</a:t>
            </a:r>
          </a:p>
        </p:txBody>
      </p:sp>
      <p:sp>
        <p:nvSpPr>
          <p:cNvPr id="9" name="Периодическая помощь с миграциями, в">
            <a:extLst xmlns:a="http://schemas.openxmlformats.org/drawingml/2006/main">
              <a:ext uri="{FF2B5EF4-FFF2-40B4-BE49-F238E27FC236}">
                <a16:creationId xmlns:a16="http://schemas.microsoft.com/office/drawing/2014/main" id="{C454751A-58C1-4226-9550-FAE5EFDA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Периодическая помощь с миграциями, восстановлением и релизом.</a:t>
            </a:r>
          </a:p>
        </p:txBody>
      </p:sp>
      <p:sp>
        <p:nvSpPr>
          <p:cNvPr id="10" name="Плановая основа: 1150 часов пользова">
            <a:extLst xmlns:a="http://schemas.openxmlformats.org/drawingml/2006/main">
              <a:ext uri="{FF2B5EF4-FFF2-40B4-BE49-F238E27FC236}">
                <a16:creationId xmlns:a16="http://schemas.microsoft.com/office/drawing/2014/main" id="{7A8EC502-0FC5-4791-B77B-EAF4FF03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Плановая основа: 1150 часов пользователя за год,</a:t>
            </a:r>
          </a:p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включая 150 часов резерва</a:t>
            </a:r>
          </a:p>
        </p:txBody>
      </p:sp>
    </p:spTree>
    <p:extLst>
      <p:ext uri="{BB962C8B-B14F-4D97-AF65-F5344CB8AC3E}">
        <p14:creationId xmlns:p14="http://schemas.microsoft.com/office/powerpoint/2010/main" val="11207873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асчётный бюджет проекта">
            <a:extLst xmlns:a="http://schemas.openxmlformats.org/drawingml/2006/main">
              <a:ext uri="{FF2B5EF4-FFF2-40B4-BE49-F238E27FC236}">
                <a16:creationId xmlns:a16="http://schemas.microsoft.com/office/drawing/2014/main" id="{9CF1C4F7-C474-4F6B-85F2-250BCCA9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Расчётный бюджет проекта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7E8EA61A-4427-4D81-80C3-774F85C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CB8BD5EF-9253-4B96-8B60-BDF9FA2F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801100"/>
                <a:gridCol w="2171700"/>
              </a:tblGrid>
              <a:tr h="361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Статья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тыс. ₽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Два химика с начислениями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Станция, сборка, проверка и её резерв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Инженерное сопровождение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Инструменты / необходимые сервисы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Независимая проверка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ИБП, backup и эксплуатация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Аналоги и правовое сопровождение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Пилот и документация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Расходы организации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Предварительный сценарий. Смета и до">
            <a:extLst xmlns:a="http://schemas.openxmlformats.org/drawingml/2006/main">
              <a:ext uri="{FF2B5EF4-FFF2-40B4-BE49-F238E27FC236}">
                <a16:creationId xmlns:a16="http://schemas.microsoft.com/office/drawing/2014/main" id="{FB0F6E05-E0B7-4E6F-AEA5-030BCF2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Предварительный сценарий. Смета и допустимость оборудования требуют согласования.</a:t>
            </a:r>
          </a:p>
        </p:txBody>
      </p:sp>
    </p:spTree>
    <p:extLst>
      <p:ext uri="{BB962C8B-B14F-4D97-AF65-F5344CB8AC3E}">
        <p14:creationId xmlns:p14="http://schemas.microsoft.com/office/powerpoint/2010/main" val="19065821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Риски и критерии продолжения">
            <a:extLst xmlns:a="http://schemas.openxmlformats.org/drawingml/2006/main">
              <a:ext uri="{FF2B5EF4-FFF2-40B4-BE49-F238E27FC236}">
                <a16:creationId xmlns:a16="http://schemas.microsoft.com/office/drawing/2014/main" id="{D6F84974-B261-4089-8645-33B9D636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Риски и критерии продолжения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B2DA1AFA-A611-400E-8F44-8A387EAB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ADAC4DCB-C48B-489E-B0DF-2526EC18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Качество">
            <a:extLst xmlns:a="http://schemas.openxmlformats.org/drawingml/2006/main">
              <a:ext uri="{FF2B5EF4-FFF2-40B4-BE49-F238E27FC236}">
                <a16:creationId xmlns:a16="http://schemas.microsoft.com/office/drawing/2014/main" id="{D2D37D6B-38BB-4E24-964D-F83BE168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Качество</a:t>
            </a:r>
          </a:p>
        </p:txBody>
      </p:sp>
      <p:sp>
        <p:nvSpPr>
          <p:cNvPr id="5" name="Измерять precision вместе с recall, ">
            <a:extLst xmlns:a="http://schemas.openxmlformats.org/drawingml/2006/main">
              <a:ext uri="{FF2B5EF4-FFF2-40B4-BE49-F238E27FC236}">
                <a16:creationId xmlns:a16="http://schemas.microsoft.com/office/drawing/2014/main" id="{00944845-69CE-4BC5-A3A3-6802AC80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Измерять precision вместе с recall, coverage и ложными отказами.</a:t>
            </a:r>
          </a:p>
        </p:txBody>
      </p:sp>
      <p:sp>
        <p:nvSpPr>
          <p:cNvPr id="6" name="Трудоёмкость">
            <a:extLst xmlns:a="http://schemas.openxmlformats.org/drawingml/2006/main">
              <a:ext uri="{FF2B5EF4-FFF2-40B4-BE49-F238E27FC236}">
                <a16:creationId xmlns:a16="http://schemas.microsoft.com/office/drawing/2014/main" id="{07BB730B-35E5-4404-B29C-B5652667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Трудоёмкость</a:t>
            </a:r>
          </a:p>
        </p:txBody>
      </p:sp>
      <p:sp>
        <p:nvSpPr>
          <p:cNvPr id="7" name="Проверять полное время; при отсутств">
            <a:extLst xmlns:a="http://schemas.openxmlformats.org/drawingml/2006/main">
              <a:ext uri="{FF2B5EF4-FFF2-40B4-BE49-F238E27FC236}">
                <a16:creationId xmlns:a16="http://schemas.microsoft.com/office/drawing/2014/main" id="{CE4E6F52-10B8-4742-8B39-8EA7E787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Проверять полное время; при отсутствии выигрыша менять workflow.</a:t>
            </a:r>
          </a:p>
        </p:txBody>
      </p:sp>
      <p:sp>
        <p:nvSpPr>
          <p:cNvPr id="8" name="Инфраструктура">
            <a:extLst xmlns:a="http://schemas.openxmlformats.org/drawingml/2006/main">
              <a:ext uri="{FF2B5EF4-FFF2-40B4-BE49-F238E27FC236}">
                <a16:creationId xmlns:a16="http://schemas.microsoft.com/office/drawing/2014/main" id="{FF805615-3E39-47ED-A8A4-97E6356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Инфраструктура</a:t>
            </a:r>
          </a:p>
        </p:txBody>
      </p:sp>
      <p:sp>
        <p:nvSpPr>
          <p:cNvPr id="9" name="Испытать установку и восстановление;">
            <a:extLst xmlns:a="http://schemas.openxmlformats.org/drawingml/2006/main">
              <a:ext uri="{FF2B5EF4-FFF2-40B4-BE49-F238E27FC236}">
                <a16:creationId xmlns:a16="http://schemas.microsoft.com/office/drawing/2014/main" id="{0F072297-CAC5-4195-BFF1-0A44D83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Испытать установку и восстановление; offline — с отключённой сетью.</a:t>
            </a:r>
          </a:p>
        </p:txBody>
      </p:sp>
      <p:sp>
        <p:nvSpPr>
          <p:cNvPr id="10" name="Права и рынок">
            <a:extLst xmlns:a="http://schemas.openxmlformats.org/drawingml/2006/main">
              <a:ext uri="{FF2B5EF4-FFF2-40B4-BE49-F238E27FC236}">
                <a16:creationId xmlns:a16="http://schemas.microsoft.com/office/drawing/2014/main" id="{C569E94B-7A3C-4603-B0C7-C6861038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Права и рынок</a:t>
            </a:r>
          </a:p>
        </p:txBody>
      </p:sp>
      <p:sp>
        <p:nvSpPr>
          <p:cNvPr id="11" name="IP и партнёрство согласуются; интерв">
            <a:extLst xmlns:a="http://schemas.openxmlformats.org/drawingml/2006/main">
              <a:ext uri="{FF2B5EF4-FFF2-40B4-BE49-F238E27FC236}">
                <a16:creationId xmlns:a16="http://schemas.microsoft.com/office/drawing/2014/main" id="{4ECF5E83-B414-48C5-B5A8-12D2676D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482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IP и партнёрство согласуются; интервью и продажи ещё не состоялись.</a:t>
            </a:r>
          </a:p>
        </p:txBody>
      </p:sp>
      <p:sp>
        <p:nvSpPr>
          <p:cNvPr id="12" name="Победа в конкурсе и коммерческий усп">
            <a:extLst xmlns:a="http://schemas.openxmlformats.org/drawingml/2006/main">
              <a:ext uri="{FF2B5EF4-FFF2-40B4-BE49-F238E27FC236}">
                <a16:creationId xmlns:a16="http://schemas.microsoft.com/office/drawing/2014/main" id="{1528BEEA-9655-49DF-86D0-41A5275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Победа в конкурсе и коммерческий успех не установлены.</a:t>
            </a:r>
          </a:p>
        </p:txBody>
      </p:sp>
    </p:spTree>
    <p:extLst>
      <p:ext uri="{BB962C8B-B14F-4D97-AF65-F5344CB8AC3E}">
        <p14:creationId xmlns:p14="http://schemas.microsoft.com/office/powerpoint/2010/main" val="14710614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едложение для обсуждения с ИХТТ">
            <a:extLst xmlns:a="http://schemas.openxmlformats.org/drawingml/2006/main">
              <a:ext uri="{FF2B5EF4-FFF2-40B4-BE49-F238E27FC236}">
                <a16:creationId xmlns:a16="http://schemas.microsoft.com/office/drawing/2014/main" id="{F1216F7B-03BC-4232-928E-090D9AF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Предложение для обсуждения с ИХТТ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357F555E-A202-4517-9293-68872297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0DE4E17B-D224-4350-BB18-7B991A85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Согласовать короткий предзаявочный п">
            <a:extLst xmlns:a="http://schemas.openxmlformats.org/drawingml/2006/main">
              <a:ext uri="{FF2B5EF4-FFF2-40B4-BE49-F238E27FC236}">
                <a16:creationId xmlns:a16="http://schemas.microsoft.com/office/drawing/2014/main" id="{B4FA657F-BEEE-4C89-A020-F9861820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Согласовать короткий предзаявочный пилот</a:t>
            </a:r>
          </a:p>
        </p:txBody>
      </p:sp>
      <p:sp>
        <p:nvSpPr>
          <p:cNvPr id="5" name="Организация">
            <a:extLst xmlns:a="http://schemas.openxmlformats.org/drawingml/2006/main">
              <a:ext uri="{FF2B5EF4-FFF2-40B4-BE49-F238E27FC236}">
                <a16:creationId xmlns:a16="http://schemas.microsoft.com/office/drawing/2014/main" id="{31C84FEB-C40D-4F7B-A0F5-738D1B66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Организация</a:t>
            </a:r>
          </a:p>
        </p:txBody>
      </p:sp>
      <p:sp>
        <p:nvSpPr>
          <p:cNvPr id="6" name="Определить руководителя, состав кома">
            <a:extLst xmlns:a="http://schemas.openxmlformats.org/drawingml/2006/main">
              <a:ext uri="{FF2B5EF4-FFF2-40B4-BE49-F238E27FC236}">
                <a16:creationId xmlns:a16="http://schemas.microsoft.com/office/drawing/2014/main" id="{ED1D2035-CE2E-4E24-A770-4B564193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Определить руководителя, состав команды и пользователя пилота.</a:t>
            </a:r>
          </a:p>
        </p:txBody>
      </p:sp>
      <p:sp>
        <p:nvSpPr>
          <p:cNvPr id="7" name="Научный сценарий">
            <a:extLst xmlns:a="http://schemas.openxmlformats.org/drawingml/2006/main">
              <a:ext uri="{FF2B5EF4-FFF2-40B4-BE49-F238E27FC236}">
                <a16:creationId xmlns:a16="http://schemas.microsoft.com/office/drawing/2014/main" id="{078563DD-73EF-430A-A063-A5DB2410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Научный сценарий</a:t>
            </a:r>
          </a:p>
        </p:txBody>
      </p:sp>
      <p:sp>
        <p:nvSpPr>
          <p:cNvPr id="8" name="Выбрать проводимость и 10–15 публика">
            <a:extLst xmlns:a="http://schemas.openxmlformats.org/drawingml/2006/main">
              <a:ext uri="{FF2B5EF4-FFF2-40B4-BE49-F238E27FC236}">
                <a16:creationId xmlns:a16="http://schemas.microsoft.com/office/drawing/2014/main" id="{D3C139FD-99DC-446D-BD68-69A7F62E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Выбрать проводимость и 10–15 публикаций для первичного опыта.</a:t>
            </a:r>
          </a:p>
        </p:txBody>
      </p:sp>
      <p:sp>
        <p:nvSpPr>
          <p:cNvPr id="9" name="Ресурс и права">
            <a:extLst xmlns:a="http://schemas.openxmlformats.org/drawingml/2006/main">
              <a:ext uri="{FF2B5EF4-FFF2-40B4-BE49-F238E27FC236}">
                <a16:creationId xmlns:a16="http://schemas.microsoft.com/office/drawing/2014/main" id="{4D2D79F3-857A-44B2-BF59-DE0A4CBB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Ресурс и права</a:t>
            </a:r>
          </a:p>
        </p:txBody>
      </p:sp>
      <p:sp>
        <p:nvSpPr>
          <p:cNvPr id="10" name="Уточнить смету, инфраструктуру и Bac">
            <a:extLst xmlns:a="http://schemas.openxmlformats.org/drawingml/2006/main">
              <a:ext uri="{FF2B5EF4-FFF2-40B4-BE49-F238E27FC236}">
                <a16:creationId xmlns:a16="http://schemas.microsoft.com/office/drawing/2014/main" id="{C9B0E581-4E42-4D4F-B520-220ECD0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Уточнить смету, инфраструктуру и Background / Foreground IP.</a:t>
            </a:r>
          </a:p>
        </p:txBody>
      </p:sp>
      <p:sp>
        <p:nvSpPr>
          <p:cNvPr id="11" name="ИХТТ — рассматриваемый партнёр. Доку">
            <a:extLst xmlns:a="http://schemas.openxmlformats.org/drawingml/2006/main">
              <a:ext uri="{FF2B5EF4-FFF2-40B4-BE49-F238E27FC236}">
                <a16:creationId xmlns:a16="http://schemas.microsoft.com/office/drawing/2014/main" id="{36336268-35D9-4985-9A3A-1E295714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ИХТТ — рассматриваемый партнёр. Документ для обсуждения; согласие не получено.</a:t>
            </a:r>
          </a:p>
        </p:txBody>
      </p:sp>
    </p:spTree>
    <p:extLst>
      <p:ext uri="{BB962C8B-B14F-4D97-AF65-F5344CB8AC3E}">
        <p14:creationId xmlns:p14="http://schemas.microsoft.com/office/powerpoint/2010/main" val="1326499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2026-10-06T06:57:27.9310000Z</dcterms:created>
  <dcterms:modified xsi:type="dcterms:W3CDTF">2026-10-06T06:57:27.9310000Z</dcterms:modified>
</coreProperties>
</file>